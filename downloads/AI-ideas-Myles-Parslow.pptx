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 for the firm" id="{f705e735-d5c5-3b20-367b-90ddbf63dbf2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2D4459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D4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What I have already built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Fifteen working tools, built on my own time to learn what AI can do for this work. A lawyer makes every decision.</a:t>
            </a:r>
            <a:endParaRPr lang="en-US" sz="1300" dirty="0"/>
          </a:p>
        </p:txBody>
      </p:sp>
      <p:sp>
        <p:nvSpPr>
          <p:cNvPr id="4" name="Conflicts and intake column"/>
          <p:cNvSpPr/>
          <p:nvPr/>
        </p:nvSpPr>
        <p:spPr>
          <a:xfrm>
            <a:off x="457200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flicts and intake heading"/>
          <p:cNvSpPr txBox="1"/>
          <p:nvPr/>
        </p:nvSpPr>
        <p:spPr>
          <a:xfrm>
            <a:off x="548640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Conflicts and intake</a:t>
            </a:r>
            <a:endParaRPr lang="en-US" sz="1100" dirty="0"/>
          </a:p>
        </p:txBody>
      </p:sp>
      <p:sp>
        <p:nvSpPr>
          <p:cNvPr id="6" name="Conflion entry"/>
          <p:cNvSpPr txBox="1"/>
          <p:nvPr/>
        </p:nvSpPr>
        <p:spPr>
          <a:xfrm>
            <a:off x="548640" y="1682496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Conflion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Conflicts check and intake that finds what a letter-for-letter search misses.</a:t>
            </a:r>
            <a:endParaRPr lang="en-US" sz="1100" dirty="0"/>
          </a:p>
        </p:txBody>
      </p:sp>
      <p:sp>
        <p:nvSpPr>
          <p:cNvPr id="7" name="Party Finder entry"/>
          <p:cNvSpPr txBox="1"/>
          <p:nvPr/>
        </p:nvSpPr>
        <p:spPr>
          <a:xfrm>
            <a:off x="548640" y="2340864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Party Finder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Reads the complaint or deal papers and builds the list of names to search.</a:t>
            </a:r>
            <a:endParaRPr lang="en-US" sz="1100" dirty="0"/>
          </a:p>
        </p:txBody>
      </p:sp>
      <p:sp>
        <p:nvSpPr>
          <p:cNvPr id="8" name="LexAtlas entry"/>
          <p:cNvSpPr txBox="1"/>
          <p:nvPr/>
        </p:nvSpPr>
        <p:spPr>
          <a:xfrm>
            <a:off x="548640" y="29992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LexAtlas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Relationship graph of companies, people and matters, walls in the data.</a:t>
            </a:r>
            <a:endParaRPr lang="en-US" sz="1100" dirty="0"/>
          </a:p>
        </p:txBody>
      </p:sp>
      <p:sp>
        <p:nvSpPr>
          <p:cNvPr id="9" name="VigilMark entry"/>
          <p:cNvSpPr txBox="1"/>
          <p:nvPr/>
        </p:nvSpPr>
        <p:spPr>
          <a:xfrm>
            <a:off x="548640" y="365760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VigilMark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Trademark watch that ranks new filings against clients' marks.</a:t>
            </a:r>
            <a:endParaRPr lang="en-US" sz="1100" dirty="0"/>
          </a:p>
        </p:txBody>
      </p:sp>
      <p:sp>
        <p:nvSpPr>
          <p:cNvPr id="10" name="Litigation column"/>
          <p:cNvSpPr/>
          <p:nvPr/>
        </p:nvSpPr>
        <p:spPr>
          <a:xfrm>
            <a:off x="2139696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tigation heading"/>
          <p:cNvSpPr txBox="1"/>
          <p:nvPr/>
        </p:nvSpPr>
        <p:spPr>
          <a:xfrm>
            <a:off x="2231136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Litigation</a:t>
            </a:r>
            <a:endParaRPr lang="en-US" sz="1100" dirty="0"/>
          </a:p>
        </p:txBody>
      </p:sp>
      <p:sp>
        <p:nvSpPr>
          <p:cNvPr id="12" name="Win your case ASAP entry"/>
          <p:cNvSpPr txBox="1"/>
          <p:nvPr/>
        </p:nvSpPr>
        <p:spPr>
          <a:xfrm>
            <a:off x="2231136" y="1682496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Win your case ASAP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First read of a complaint: every theory that could end the case early.</a:t>
            </a:r>
            <a:endParaRPr lang="en-US" sz="1100" dirty="0"/>
          </a:p>
        </p:txBody>
      </p:sp>
      <p:sp>
        <p:nvSpPr>
          <p:cNvPr id="13" name="Testimony Check entry"/>
          <p:cNvSpPr txBox="1"/>
          <p:nvPr/>
        </p:nvSpPr>
        <p:spPr>
          <a:xfrm>
            <a:off x="2231136" y="2340864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Testimony Check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Finds where a witness's story conflicts with the record.</a:t>
            </a:r>
            <a:endParaRPr lang="en-US" sz="1100" dirty="0"/>
          </a:p>
        </p:txBody>
      </p:sp>
      <p:sp>
        <p:nvSpPr>
          <p:cNvPr id="14" name="Citation Gate entry"/>
          <p:cNvSpPr txBox="1"/>
          <p:nvPr/>
        </p:nvSpPr>
        <p:spPr>
          <a:xfrm>
            <a:off x="2231136" y="29992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Citation Gate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Checks every cited case and quotation against real opinions.</a:t>
            </a:r>
            <a:endParaRPr lang="en-US" sz="1100" dirty="0"/>
          </a:p>
        </p:txBody>
      </p:sp>
      <p:sp>
        <p:nvSpPr>
          <p:cNvPr id="15" name="Case Wins Debrief entry"/>
          <p:cNvSpPr txBox="1"/>
          <p:nvPr/>
        </p:nvSpPr>
        <p:spPr>
          <a:xfrm>
            <a:off x="2231136" y="365760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Case Wins Debrief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Turns the firm's wins into patterns the next team can reuse.</a:t>
            </a:r>
            <a:endParaRPr lang="en-US" sz="1100" dirty="0"/>
          </a:p>
        </p:txBody>
      </p:sp>
      <p:sp>
        <p:nvSpPr>
          <p:cNvPr id="16" name="Transactions and practice groups column"/>
          <p:cNvSpPr/>
          <p:nvPr/>
        </p:nvSpPr>
        <p:spPr>
          <a:xfrm>
            <a:off x="3822192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ransactions and practice groups heading"/>
          <p:cNvSpPr txBox="1"/>
          <p:nvPr/>
        </p:nvSpPr>
        <p:spPr>
          <a:xfrm>
            <a:off x="3913632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Transactions and practice groups</a:t>
            </a:r>
            <a:endParaRPr lang="en-US" sz="1100" dirty="0"/>
          </a:p>
        </p:txBody>
      </p:sp>
      <p:sp>
        <p:nvSpPr>
          <p:cNvPr id="18" name="Matter Desk entry"/>
          <p:cNvSpPr txBox="1"/>
          <p:nvPr/>
        </p:nvSpPr>
        <p:spPr>
          <a:xfrm>
            <a:off x="3913632" y="1682496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Matter Desk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First read of a new matter in five practice areas, deadlines dated.</a:t>
            </a:r>
            <a:endParaRPr lang="en-US" sz="1100" dirty="0"/>
          </a:p>
        </p:txBody>
      </p:sp>
      <p:sp>
        <p:nvSpPr>
          <p:cNvPr id="19" name="Synthesis entry"/>
          <p:cNvSpPr txBox="1"/>
          <p:nvPr/>
        </p:nvSpPr>
        <p:spPr>
          <a:xfrm>
            <a:off x="3913632" y="2340864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Synthesis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Buy-side deal workbench: schedules, markup and closing checklist.</a:t>
            </a:r>
            <a:endParaRPr lang="en-US" sz="1100" dirty="0"/>
          </a:p>
        </p:txBody>
      </p:sp>
      <p:sp>
        <p:nvSpPr>
          <p:cNvPr id="20" name="Skippy entry"/>
          <p:cNvSpPr txBox="1"/>
          <p:nvPr/>
        </p:nvSpPr>
        <p:spPr>
          <a:xfrm>
            <a:off x="3913632" y="29992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Skippy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Answers questions about a matter's files, cited to the page.</a:t>
            </a:r>
            <a:endParaRPr lang="en-US" sz="1100" dirty="0"/>
          </a:p>
        </p:txBody>
      </p:sp>
      <p:sp>
        <p:nvSpPr>
          <p:cNvPr id="21" name="Billing and time column"/>
          <p:cNvSpPr/>
          <p:nvPr/>
        </p:nvSpPr>
        <p:spPr>
          <a:xfrm>
            <a:off x="5504688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Billing and time heading"/>
          <p:cNvSpPr txBox="1"/>
          <p:nvPr/>
        </p:nvSpPr>
        <p:spPr>
          <a:xfrm>
            <a:off x="5596128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Billing and time</a:t>
            </a:r>
            <a:endParaRPr lang="en-US" sz="1100" dirty="0"/>
          </a:p>
        </p:txBody>
      </p:sp>
      <p:sp>
        <p:nvSpPr>
          <p:cNvPr id="23" name="Guideline Guard entry"/>
          <p:cNvSpPr txBox="1"/>
          <p:nvPr/>
        </p:nvSpPr>
        <p:spPr>
          <a:xfrm>
            <a:off x="5596128" y="1682496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Guideline Guard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Applies each client's outside counsel guidelines to the prebill.</a:t>
            </a:r>
            <a:endParaRPr lang="en-US" sz="1100" dirty="0"/>
          </a:p>
        </p:txBody>
      </p:sp>
      <p:sp>
        <p:nvSpPr>
          <p:cNvPr id="24" name="Hour Catch entry"/>
          <p:cNvSpPr txBox="1"/>
          <p:nvPr/>
        </p:nvSpPr>
        <p:spPr>
          <a:xfrm>
            <a:off x="5596128" y="2340864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Hour Catch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Reads a lawyer's day and drafts the time entries it would miss.</a:t>
            </a:r>
            <a:endParaRPr lang="en-US" sz="1100" dirty="0"/>
          </a:p>
        </p:txBody>
      </p:sp>
      <p:sp>
        <p:nvSpPr>
          <p:cNvPr id="25" name="Firm strategy and knowledge column"/>
          <p:cNvSpPr/>
          <p:nvPr/>
        </p:nvSpPr>
        <p:spPr>
          <a:xfrm>
            <a:off x="7187184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Firm strategy and knowledge heading"/>
          <p:cNvSpPr txBox="1"/>
          <p:nvPr/>
        </p:nvSpPr>
        <p:spPr>
          <a:xfrm>
            <a:off x="7278624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Firm strategy and knowledge</a:t>
            </a:r>
            <a:endParaRPr lang="en-US" sz="1100" dirty="0"/>
          </a:p>
        </p:txBody>
      </p:sp>
      <p:sp>
        <p:nvSpPr>
          <p:cNvPr id="27" name="Praxis entry"/>
          <p:cNvSpPr txBox="1"/>
          <p:nvPr/>
        </p:nvSpPr>
        <p:spPr>
          <a:xfrm>
            <a:off x="7278624" y="1682496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Praxis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Maps and scores AI ideas and carries the winners through pilots.</a:t>
            </a:r>
            <a:endParaRPr lang="en-US" sz="1100" dirty="0"/>
          </a:p>
        </p:txBody>
      </p:sp>
      <p:sp>
        <p:nvSpPr>
          <p:cNvPr id="28" name="Marketing Studio entry"/>
          <p:cNvSpPr txBox="1"/>
          <p:nvPr/>
        </p:nvSpPr>
        <p:spPr>
          <a:xfrm>
            <a:off x="7278624" y="2340864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Marketing Studio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Drafts bios, alerts and RFP responses, then checks them against the rules.</a:t>
            </a:r>
            <a:endParaRPr lang="en-US" sz="1100" dirty="0"/>
          </a:p>
        </p:txBody>
      </p:sp>
      <p:sp>
        <p:nvSpPr>
          <p:cNvPr id="29" name="icon square"/>
          <p:cNvSpPr/>
          <p:nvPr/>
        </p:nvSpPr>
        <p:spPr>
          <a:xfrm>
            <a:off x="457200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50" y="4522622"/>
            <a:ext cx="153619" cy="153619"/>
          </a:xfrm>
          <a:prstGeom prst="rect">
            <a:avLst/>
          </a:prstGeom>
        </p:spPr>
      </p:pic>
      <p:sp>
        <p:nvSpPr>
          <p:cNvPr id="31" name="IT strip lock"/>
          <p:cNvSpPr txBox="1"/>
          <p:nvPr/>
        </p:nvSpPr>
        <p:spPr>
          <a:xfrm>
            <a:off x="786384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Sensitive data stays on firm hardware</a:t>
            </a:r>
            <a:endParaRPr lang="en-US" sz="950" dirty="0"/>
          </a:p>
        </p:txBody>
      </p:sp>
      <p:sp>
        <p:nvSpPr>
          <p:cNvPr id="32" name="icon square"/>
          <p:cNvSpPr/>
          <p:nvPr/>
        </p:nvSpPr>
        <p:spPr>
          <a:xfrm>
            <a:off x="2157984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us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334" y="4522622"/>
            <a:ext cx="153619" cy="153619"/>
          </a:xfrm>
          <a:prstGeom prst="rect">
            <a:avLst/>
          </a:prstGeom>
        </p:spPr>
      </p:pic>
      <p:sp>
        <p:nvSpPr>
          <p:cNvPr id="34" name="IT strip users"/>
          <p:cNvSpPr txBox="1"/>
          <p:nvPr/>
        </p:nvSpPr>
        <p:spPr>
          <a:xfrm>
            <a:off x="2487168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Sign-on and role-based access</a:t>
            </a:r>
            <a:endParaRPr lang="en-US" sz="950" dirty="0"/>
          </a:p>
        </p:txBody>
      </p:sp>
      <p:sp>
        <p:nvSpPr>
          <p:cNvPr id="35" name="icon square"/>
          <p:cNvSpPr/>
          <p:nvPr/>
        </p:nvSpPr>
        <p:spPr>
          <a:xfrm>
            <a:off x="3858768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shiel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118" y="4522622"/>
            <a:ext cx="153619" cy="153619"/>
          </a:xfrm>
          <a:prstGeom prst="rect">
            <a:avLst/>
          </a:prstGeom>
        </p:spPr>
      </p:pic>
      <p:sp>
        <p:nvSpPr>
          <p:cNvPr id="37" name="IT strip shield"/>
          <p:cNvSpPr txBox="1"/>
          <p:nvPr/>
        </p:nvSpPr>
        <p:spPr>
          <a:xfrm>
            <a:off x="4187952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Ethical walls enforced in the data</a:t>
            </a:r>
            <a:endParaRPr lang="en-US" sz="950" dirty="0"/>
          </a:p>
        </p:txBody>
      </p:sp>
      <p:sp>
        <p:nvSpPr>
          <p:cNvPr id="38" name="icon square"/>
          <p:cNvSpPr/>
          <p:nvPr/>
        </p:nvSpPr>
        <p:spPr>
          <a:xfrm>
            <a:off x="5559552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lis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902" y="4522622"/>
            <a:ext cx="153619" cy="153619"/>
          </a:xfrm>
          <a:prstGeom prst="rect">
            <a:avLst/>
          </a:prstGeom>
        </p:spPr>
      </p:pic>
      <p:sp>
        <p:nvSpPr>
          <p:cNvPr id="40" name="IT strip list"/>
          <p:cNvSpPr txBox="1"/>
          <p:nvPr/>
        </p:nvSpPr>
        <p:spPr>
          <a:xfrm>
            <a:off x="5888736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Audit trail on every action</a:t>
            </a:r>
            <a:endParaRPr lang="en-US" sz="950" dirty="0"/>
          </a:p>
        </p:txBody>
      </p:sp>
      <p:sp>
        <p:nvSpPr>
          <p:cNvPr id="41" name="icon square"/>
          <p:cNvSpPr/>
          <p:nvPr/>
        </p:nvSpPr>
        <p:spPr>
          <a:xfrm>
            <a:off x="7260336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chec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0686" y="4522622"/>
            <a:ext cx="153619" cy="153619"/>
          </a:xfrm>
          <a:prstGeom prst="rect">
            <a:avLst/>
          </a:prstGeom>
        </p:spPr>
      </p:pic>
      <p:sp>
        <p:nvSpPr>
          <p:cNvPr id="43" name="IT strip check"/>
          <p:cNvSpPr txBox="1"/>
          <p:nvPr/>
        </p:nvSpPr>
        <p:spPr>
          <a:xfrm>
            <a:off x="7589520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Tests and docs written for IT review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Quick wins I think are worth exploring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Ideas, not a plan. Each could run within a few months, mostly on tools the firm already licenses.</a:t>
            </a:r>
            <a:endParaRPr lang="en-US" sz="1300" dirty="0"/>
          </a:p>
        </p:txBody>
      </p:sp>
      <p:sp>
        <p:nvSpPr>
          <p:cNvPr id="4" name="Outside counsel guidelines brief card"/>
          <p:cNvSpPr/>
          <p:nvPr/>
        </p:nvSpPr>
        <p:spPr>
          <a:xfrm>
            <a:off x="457200" y="123444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37160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oo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456091"/>
            <a:ext cx="215067" cy="215067"/>
          </a:xfrm>
          <a:prstGeom prst="rect">
            <a:avLst/>
          </a:prstGeom>
        </p:spPr>
      </p:pic>
      <p:sp>
        <p:nvSpPr>
          <p:cNvPr id="7" name="Outside counsel guidelines brief name"/>
          <p:cNvSpPr txBox="1"/>
          <p:nvPr/>
        </p:nvSpPr>
        <p:spPr>
          <a:xfrm>
            <a:off x="1097280" y="134416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Outside counsel guidelines brief</a:t>
            </a:r>
            <a:endParaRPr lang="en-US" sz="1400" dirty="0"/>
          </a:p>
        </p:txBody>
      </p:sp>
      <p:sp>
        <p:nvSpPr>
          <p:cNvPr id="8" name="Outside counsel guidelines brief what"/>
          <p:cNvSpPr txBox="1"/>
          <p:nvPr/>
        </p:nvSpPr>
        <p:spPr>
          <a:xfrm>
            <a:off x="594360" y="185623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Turns each client's guidelines into a one-page brief per matter and flags time entries that break them before the invoice goes out.</a:t>
            </a:r>
            <a:endParaRPr lang="en-US" sz="1100" dirty="0"/>
          </a:p>
        </p:txBody>
      </p:sp>
      <p:sp>
        <p:nvSpPr>
          <p:cNvPr id="9" name="Outside counsel guidelines brief why"/>
          <p:cNvSpPr txBox="1"/>
          <p:nvPr/>
        </p:nvSpPr>
        <p:spPr>
          <a:xfrm>
            <a:off x="594360" y="238658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Why I would start here: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Uses documents the firm already holds. A person reviews the output before anything leaves.</a:t>
            </a:r>
            <a:endParaRPr lang="en-US" sz="1000" dirty="0"/>
          </a:p>
        </p:txBody>
      </p:sp>
      <p:sp>
        <p:nvSpPr>
          <p:cNvPr id="10" name="Pre-bill reviewer card"/>
          <p:cNvSpPr/>
          <p:nvPr/>
        </p:nvSpPr>
        <p:spPr>
          <a:xfrm>
            <a:off x="4663440" y="123444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square"/>
          <p:cNvSpPr/>
          <p:nvPr/>
        </p:nvSpPr>
        <p:spPr>
          <a:xfrm>
            <a:off x="4800600" y="137160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dolla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91" y="1456091"/>
            <a:ext cx="215067" cy="215067"/>
          </a:xfrm>
          <a:prstGeom prst="rect">
            <a:avLst/>
          </a:prstGeom>
        </p:spPr>
      </p:pic>
      <p:sp>
        <p:nvSpPr>
          <p:cNvPr id="13" name="Pre-bill reviewer name"/>
          <p:cNvSpPr txBox="1"/>
          <p:nvPr/>
        </p:nvSpPr>
        <p:spPr>
          <a:xfrm>
            <a:off x="5303520" y="134416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Pre-bill reviewer</a:t>
            </a:r>
            <a:endParaRPr lang="en-US" sz="1400" dirty="0"/>
          </a:p>
        </p:txBody>
      </p:sp>
      <p:sp>
        <p:nvSpPr>
          <p:cNvPr id="14" name="Pre-bill reviewer what"/>
          <p:cNvSpPr txBox="1"/>
          <p:nvPr/>
        </p:nvSpPr>
        <p:spPr>
          <a:xfrm>
            <a:off x="4800600" y="185623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Flags vague or block-billed entries a client is likely to reject and suggests a rewrite.</a:t>
            </a:r>
            <a:endParaRPr lang="en-US" sz="1100" dirty="0"/>
          </a:p>
        </p:txBody>
      </p:sp>
      <p:sp>
        <p:nvSpPr>
          <p:cNvPr id="15" name="Pre-bill reviewer why"/>
          <p:cNvSpPr txBox="1"/>
          <p:nvPr/>
        </p:nvSpPr>
        <p:spPr>
          <a:xfrm>
            <a:off x="4800600" y="238658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Why I would start here: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Internal only. The write-offs it prevents show up on the firm's own ledger.</a:t>
            </a:r>
            <a:endParaRPr lang="en-US" sz="1000" dirty="0"/>
          </a:p>
        </p:txBody>
      </p:sp>
      <p:sp>
        <p:nvSpPr>
          <p:cNvPr id="16" name="Matter handoff memo card"/>
          <p:cNvSpPr/>
          <p:nvPr/>
        </p:nvSpPr>
        <p:spPr>
          <a:xfrm>
            <a:off x="457200" y="301752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square"/>
          <p:cNvSpPr/>
          <p:nvPr/>
        </p:nvSpPr>
        <p:spPr>
          <a:xfrm>
            <a:off x="594360" y="315468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repea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1" y="3239171"/>
            <a:ext cx="215067" cy="215067"/>
          </a:xfrm>
          <a:prstGeom prst="rect">
            <a:avLst/>
          </a:prstGeom>
        </p:spPr>
      </p:pic>
      <p:sp>
        <p:nvSpPr>
          <p:cNvPr id="19" name="Matter handoff memo name"/>
          <p:cNvSpPr txBox="1"/>
          <p:nvPr/>
        </p:nvSpPr>
        <p:spPr>
          <a:xfrm>
            <a:off x="1097280" y="312724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Matter handoff memo</a:t>
            </a:r>
            <a:endParaRPr lang="en-US" sz="1400" dirty="0"/>
          </a:p>
        </p:txBody>
      </p:sp>
      <p:sp>
        <p:nvSpPr>
          <p:cNvPr id="20" name="Matter handoff memo what"/>
          <p:cNvSpPr txBox="1"/>
          <p:nvPr/>
        </p:nvSpPr>
        <p:spPr>
          <a:xfrm>
            <a:off x="594360" y="36393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Produces a "state of the matter" summary from emails and documents when someone rotates off or retires.</a:t>
            </a:r>
            <a:endParaRPr lang="en-US" sz="1100" dirty="0"/>
          </a:p>
        </p:txBody>
      </p:sp>
      <p:sp>
        <p:nvSpPr>
          <p:cNvPr id="21" name="Matter handoff memo why"/>
          <p:cNvSpPr txBox="1"/>
          <p:nvPr/>
        </p:nvSpPr>
        <p:spPr>
          <a:xfrm>
            <a:off x="594360" y="416966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Why I would start here: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Reads the firm's own files. Replaces a task nobody enjoys.</a:t>
            </a:r>
            <a:endParaRPr lang="en-US" sz="1000" dirty="0"/>
          </a:p>
        </p:txBody>
      </p:sp>
      <p:sp>
        <p:nvSpPr>
          <p:cNvPr id="22" name="Drafting from our own precedents card"/>
          <p:cNvSpPr/>
          <p:nvPr/>
        </p:nvSpPr>
        <p:spPr>
          <a:xfrm>
            <a:off x="4663440" y="301752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 square"/>
          <p:cNvSpPr/>
          <p:nvPr/>
        </p:nvSpPr>
        <p:spPr>
          <a:xfrm>
            <a:off x="4800600" y="315468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edi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1" y="3239171"/>
            <a:ext cx="215067" cy="215067"/>
          </a:xfrm>
          <a:prstGeom prst="rect">
            <a:avLst/>
          </a:prstGeom>
        </p:spPr>
      </p:pic>
      <p:sp>
        <p:nvSpPr>
          <p:cNvPr id="25" name="Drafting from our own precedents name"/>
          <p:cNvSpPr txBox="1"/>
          <p:nvPr/>
        </p:nvSpPr>
        <p:spPr>
          <a:xfrm>
            <a:off x="5303520" y="312724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Drafting from our own precedents</a:t>
            </a:r>
            <a:endParaRPr lang="en-US" sz="1400" dirty="0"/>
          </a:p>
        </p:txBody>
      </p:sp>
      <p:sp>
        <p:nvSpPr>
          <p:cNvPr id="26" name="Drafting from our own precedents what"/>
          <p:cNvSpPr txBox="1"/>
          <p:nvPr/>
        </p:nvSpPr>
        <p:spPr>
          <a:xfrm>
            <a:off x="4800600" y="36393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First drafts of routine documents from the firm's best past examples instead of generic templates.</a:t>
            </a:r>
            <a:endParaRPr lang="en-US" sz="1100" dirty="0"/>
          </a:p>
        </p:txBody>
      </p:sp>
      <p:sp>
        <p:nvSpPr>
          <p:cNvPr id="27" name="Drafting from our own precedents why"/>
          <p:cNvSpPr txBox="1"/>
          <p:nvPr/>
        </p:nvSpPr>
        <p:spPr>
          <a:xfrm>
            <a:off x="4800600" y="416966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Why I would start here: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Can start inside Copilot and the document system with approved prompts. Nothing new to host.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Bigger ideas, if there is appetite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few directions I find promising. They would need IT and leadership to shape them.</a:t>
            </a:r>
            <a:endParaRPr lang="en-US" sz="1300" dirty="0"/>
          </a:p>
        </p:txBody>
      </p:sp>
      <p:sp>
        <p:nvSpPr>
          <p:cNvPr id="4" name="Client risk radar card"/>
          <p:cNvSpPr/>
          <p:nvPr/>
        </p:nvSpPr>
        <p:spPr>
          <a:xfrm>
            <a:off x="457200" y="1325880"/>
            <a:ext cx="2651760" cy="3246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rad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47531"/>
            <a:ext cx="215067" cy="215067"/>
          </a:xfrm>
          <a:prstGeom prst="rect">
            <a:avLst/>
          </a:prstGeom>
        </p:spPr>
      </p:pic>
      <p:sp>
        <p:nvSpPr>
          <p:cNvPr id="7" name="Client risk radar name"/>
          <p:cNvSpPr txBox="1"/>
          <p:nvPr/>
        </p:nvSpPr>
        <p:spPr>
          <a:xfrm>
            <a:off x="109728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Client risk radar</a:t>
            </a:r>
            <a:endParaRPr lang="en-US" sz="1400" dirty="0"/>
          </a:p>
        </p:txBody>
      </p:sp>
      <p:sp>
        <p:nvSpPr>
          <p:cNvPr id="8" name="Client risk radar What it is label"/>
          <p:cNvSpPr txBox="1"/>
          <p:nvPr/>
        </p:nvSpPr>
        <p:spPr>
          <a:xfrm>
            <a:off x="594360" y="19842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What it is</a:t>
            </a:r>
            <a:endParaRPr lang="en-US" sz="950" dirty="0"/>
          </a:p>
        </p:txBody>
      </p:sp>
      <p:sp>
        <p:nvSpPr>
          <p:cNvPr id="9" name="Client risk radar What it is"/>
          <p:cNvSpPr txBox="1"/>
          <p:nvPr/>
        </p:nvSpPr>
        <p:spPr>
          <a:xfrm>
            <a:off x="594360" y="218541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Watches public signals about our clients, such as lawsuits, inspection citations, agency audits and news, and turns them into early warnings.</a:t>
            </a:r>
            <a:endParaRPr lang="en-US" sz="1050" dirty="0"/>
          </a:p>
        </p:txBody>
      </p:sp>
      <p:sp>
        <p:nvSpPr>
          <p:cNvPr id="10" name="Client risk radar Why it matters label"/>
          <p:cNvSpPr txBox="1"/>
          <p:nvPr/>
        </p:nvSpPr>
        <p:spPr>
          <a:xfrm>
            <a:off x="594360" y="28437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Why it matters</a:t>
            </a:r>
            <a:endParaRPr lang="en-US" sz="950" dirty="0"/>
          </a:p>
        </p:txBody>
      </p:sp>
      <p:sp>
        <p:nvSpPr>
          <p:cNvPr id="11" name="Client risk radar Why it matters"/>
          <p:cNvSpPr txBox="1"/>
          <p:nvPr/>
        </p:nvSpPr>
        <p:spPr>
          <a:xfrm>
            <a:off x="594360" y="304495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We call the client before the client knows it needs help. Reactive work becomes proactive outreach.</a:t>
            </a:r>
            <a:endParaRPr lang="en-US" sz="1050" dirty="0"/>
          </a:p>
        </p:txBody>
      </p:sp>
      <p:sp>
        <p:nvSpPr>
          <p:cNvPr id="12" name="Client risk radar What it needs label"/>
          <p:cNvSpPr txBox="1"/>
          <p:nvPr/>
        </p:nvSpPr>
        <p:spPr>
          <a:xfrm>
            <a:off x="59436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What it needs</a:t>
            </a:r>
            <a:endParaRPr lang="en-US" sz="950" dirty="0"/>
          </a:p>
        </p:txBody>
      </p:sp>
      <p:sp>
        <p:nvSpPr>
          <p:cNvPr id="13" name="Client risk radar What it needs"/>
          <p:cNvSpPr txBox="1"/>
          <p:nvPr/>
        </p:nvSpPr>
        <p:spPr>
          <a:xfrm>
            <a:off x="594360" y="390448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client list, public sources, and a review step before any outreach.</a:t>
            </a:r>
            <a:endParaRPr lang="en-US" sz="1050" dirty="0"/>
          </a:p>
        </p:txBody>
      </p:sp>
      <p:sp>
        <p:nvSpPr>
          <p:cNvPr id="14" name="Institutional knowledge engine card"/>
          <p:cNvSpPr/>
          <p:nvPr/>
        </p:nvSpPr>
        <p:spPr>
          <a:xfrm>
            <a:off x="3291840" y="1325880"/>
            <a:ext cx="2651760" cy="3246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square"/>
          <p:cNvSpPr/>
          <p:nvPr/>
        </p:nvSpPr>
        <p:spPr>
          <a:xfrm>
            <a:off x="342900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search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91" y="1547531"/>
            <a:ext cx="215067" cy="215067"/>
          </a:xfrm>
          <a:prstGeom prst="rect">
            <a:avLst/>
          </a:prstGeom>
        </p:spPr>
      </p:pic>
      <p:sp>
        <p:nvSpPr>
          <p:cNvPr id="17" name="Institutional knowledge engine name"/>
          <p:cNvSpPr txBox="1"/>
          <p:nvPr/>
        </p:nvSpPr>
        <p:spPr>
          <a:xfrm>
            <a:off x="393192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Institutional knowledge engine</a:t>
            </a:r>
            <a:endParaRPr lang="en-US" sz="1400" dirty="0"/>
          </a:p>
        </p:txBody>
      </p:sp>
      <p:sp>
        <p:nvSpPr>
          <p:cNvPr id="18" name="Institutional knowledge engine What it is label"/>
          <p:cNvSpPr txBox="1"/>
          <p:nvPr/>
        </p:nvSpPr>
        <p:spPr>
          <a:xfrm>
            <a:off x="3429000" y="19842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What it is</a:t>
            </a:r>
            <a:endParaRPr lang="en-US" sz="950" dirty="0"/>
          </a:p>
        </p:txBody>
      </p:sp>
      <p:sp>
        <p:nvSpPr>
          <p:cNvPr id="19" name="Institutional knowledge engine What it is"/>
          <p:cNvSpPr txBox="1"/>
          <p:nvPr/>
        </p:nvSpPr>
        <p:spPr>
          <a:xfrm>
            <a:off x="3429000" y="218541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Attorneys ask "who here has handled this kind of matter?" or "how did we argue this before?" and get an answer from the firm's own files.</a:t>
            </a:r>
            <a:endParaRPr lang="en-US" sz="1050" dirty="0"/>
          </a:p>
        </p:txBody>
      </p:sp>
      <p:sp>
        <p:nvSpPr>
          <p:cNvPr id="20" name="Institutional knowledge engine Why it matters label"/>
          <p:cNvSpPr txBox="1"/>
          <p:nvPr/>
        </p:nvSpPr>
        <p:spPr>
          <a:xfrm>
            <a:off x="3429000" y="28437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Why it matters</a:t>
            </a:r>
            <a:endParaRPr lang="en-US" sz="950" dirty="0"/>
          </a:p>
        </p:txBody>
      </p:sp>
      <p:sp>
        <p:nvSpPr>
          <p:cNvPr id="21" name="Institutional knowledge engine Why it matters"/>
          <p:cNvSpPr txBox="1"/>
          <p:nvPr/>
        </p:nvSpPr>
        <p:spPr>
          <a:xfrm>
            <a:off x="3429000" y="304495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Captures expertise before senior partners retire. New attorneys ramp faster.</a:t>
            </a:r>
            <a:endParaRPr lang="en-US" sz="1050" dirty="0"/>
          </a:p>
        </p:txBody>
      </p:sp>
      <p:sp>
        <p:nvSpPr>
          <p:cNvPr id="22" name="Institutional knowledge engine What it needs label"/>
          <p:cNvSpPr txBox="1"/>
          <p:nvPr/>
        </p:nvSpPr>
        <p:spPr>
          <a:xfrm>
            <a:off x="342900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What it needs</a:t>
            </a:r>
            <a:endParaRPr lang="en-US" sz="950" dirty="0"/>
          </a:p>
        </p:txBody>
      </p:sp>
      <p:sp>
        <p:nvSpPr>
          <p:cNvPr id="23" name="Institutional knowledge engine What it needs"/>
          <p:cNvSpPr txBox="1"/>
          <p:nvPr/>
        </p:nvSpPr>
        <p:spPr>
          <a:xfrm>
            <a:off x="3429000" y="390448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Document system access that respects ethical walls and permissions. Already built into LexAtlas and Skippy on slide 1.</a:t>
            </a:r>
            <a:endParaRPr lang="en-US" sz="1050" dirty="0"/>
          </a:p>
        </p:txBody>
      </p:sp>
      <p:sp>
        <p:nvSpPr>
          <p:cNvPr id="24" name="Ask the matter card"/>
          <p:cNvSpPr/>
          <p:nvPr/>
        </p:nvSpPr>
        <p:spPr>
          <a:xfrm>
            <a:off x="6126480" y="1325880"/>
            <a:ext cx="2651760" cy="3246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square"/>
          <p:cNvSpPr/>
          <p:nvPr/>
        </p:nvSpPr>
        <p:spPr>
          <a:xfrm>
            <a:off x="626364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msg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131" y="1547531"/>
            <a:ext cx="215067" cy="215067"/>
          </a:xfrm>
          <a:prstGeom prst="rect">
            <a:avLst/>
          </a:prstGeom>
        </p:spPr>
      </p:pic>
      <p:sp>
        <p:nvSpPr>
          <p:cNvPr id="27" name="Ask the matter name"/>
          <p:cNvSpPr txBox="1"/>
          <p:nvPr/>
        </p:nvSpPr>
        <p:spPr>
          <a:xfrm>
            <a:off x="676656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the matter</a:t>
            </a:r>
            <a:endParaRPr lang="en-US" sz="1400" dirty="0"/>
          </a:p>
        </p:txBody>
      </p:sp>
      <p:sp>
        <p:nvSpPr>
          <p:cNvPr id="28" name="Ask the matter What it is label"/>
          <p:cNvSpPr txBox="1"/>
          <p:nvPr/>
        </p:nvSpPr>
        <p:spPr>
          <a:xfrm>
            <a:off x="6263640" y="19842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What it is</a:t>
            </a:r>
            <a:endParaRPr lang="en-US" sz="950" dirty="0"/>
          </a:p>
        </p:txBody>
      </p:sp>
      <p:sp>
        <p:nvSpPr>
          <p:cNvPr id="29" name="Ask the matter What it is"/>
          <p:cNvSpPr txBox="1"/>
          <p:nvPr/>
        </p:nvSpPr>
        <p:spPr>
          <a:xfrm>
            <a:off x="6263640" y="218541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secure question-and-answer tool over one matter's files, with every answer cited to the page.</a:t>
            </a:r>
            <a:endParaRPr lang="en-US" sz="1050" dirty="0"/>
          </a:p>
        </p:txBody>
      </p:sp>
      <p:sp>
        <p:nvSpPr>
          <p:cNvPr id="30" name="Ask the matter Why it matters label"/>
          <p:cNvSpPr txBox="1"/>
          <p:nvPr/>
        </p:nvSpPr>
        <p:spPr>
          <a:xfrm>
            <a:off x="6263640" y="28437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Why it matters</a:t>
            </a:r>
            <a:endParaRPr lang="en-US" sz="950" dirty="0"/>
          </a:p>
        </p:txBody>
      </p:sp>
      <p:sp>
        <p:nvSpPr>
          <p:cNvPr id="31" name="Ask the matter Why it matters"/>
          <p:cNvSpPr txBox="1"/>
          <p:nvPr/>
        </p:nvSpPr>
        <p:spPr>
          <a:xfrm>
            <a:off x="6263640" y="304495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 first step toward the knowledge engine, scoped to one matter so the risk is contained.</a:t>
            </a:r>
            <a:endParaRPr lang="en-US" sz="1050" dirty="0"/>
          </a:p>
        </p:txBody>
      </p:sp>
      <p:sp>
        <p:nvSpPr>
          <p:cNvPr id="32" name="Ask the matter What it needs label"/>
          <p:cNvSpPr txBox="1"/>
          <p:nvPr/>
        </p:nvSpPr>
        <p:spPr>
          <a:xfrm>
            <a:off x="626364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What it needs</a:t>
            </a:r>
            <a:endParaRPr lang="en-US" sz="950" dirty="0"/>
          </a:p>
        </p:txBody>
      </p:sp>
      <p:sp>
        <p:nvSpPr>
          <p:cNvPr id="33" name="Ask the matter What it needs"/>
          <p:cNvSpPr txBox="1"/>
          <p:nvPr/>
        </p:nvSpPr>
        <p:spPr>
          <a:xfrm>
            <a:off x="6263640" y="390448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One matter's files and a pilot team.</a:t>
            </a:r>
            <a:endParaRPr lang="en-US" sz="1050" dirty="0"/>
          </a:p>
        </p:txBody>
      </p:sp>
      <p:sp>
        <p:nvSpPr>
          <p:cNvPr id="34" name="fourth project note"/>
          <p:cNvSpPr txBox="1"/>
          <p:nvPr/>
        </p:nvSpPr>
        <p:spPr>
          <a:xfrm>
            <a:off x="457200" y="4617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A fourth I have wondered about: outcome and pricing intelligence from the firm's own matter history, to support fixed-fee bids.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How I think about choosing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lens I have found useful, offered for discussion. Ideas are cheap; the hard part is choosing.</a:t>
            </a:r>
            <a:endParaRPr lang="en-US" sz="1300" dirty="0"/>
          </a:p>
        </p:txBody>
      </p:sp>
      <p:sp>
        <p:nvSpPr>
          <p:cNvPr id="4" name="questions heading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Five questions I ask of an idea</a:t>
            </a:r>
            <a:endParaRPr lang="en-US" sz="1300" dirty="0"/>
          </a:p>
        </p:txBody>
      </p:sp>
      <p:sp>
        <p:nvSpPr>
          <p:cNvPr id="5" name="number 1"/>
          <p:cNvSpPr/>
          <p:nvPr/>
        </p:nvSpPr>
        <p:spPr>
          <a:xfrm>
            <a:off x="457200" y="1664208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umber text 1"/>
          <p:cNvSpPr txBox="1"/>
          <p:nvPr/>
        </p:nvSpPr>
        <p:spPr>
          <a:xfrm>
            <a:off x="45720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question 1"/>
          <p:cNvSpPr txBox="1"/>
          <p:nvPr/>
        </p:nvSpPr>
        <p:spPr>
          <a:xfrm>
            <a:off x="914400" y="16276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Impact against effort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Who benefits, how often, and how much work it takes.</a:t>
            </a:r>
            <a:endParaRPr lang="en-US" sz="1200" dirty="0"/>
          </a:p>
        </p:txBody>
      </p:sp>
      <p:sp>
        <p:nvSpPr>
          <p:cNvPr id="8" name="number 2"/>
          <p:cNvSpPr/>
          <p:nvPr/>
        </p:nvSpPr>
        <p:spPr>
          <a:xfrm>
            <a:off x="457200" y="2231136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number text 2"/>
          <p:cNvSpPr txBox="1"/>
          <p:nvPr/>
        </p:nvSpPr>
        <p:spPr>
          <a:xfrm>
            <a:off x="457200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question 2"/>
          <p:cNvSpPr txBox="1"/>
          <p:nvPr/>
        </p:nvSpPr>
        <p:spPr>
          <a:xfrm>
            <a:off x="91440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Data readiness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Is the data clean, in one place, and allowed to be used this way?</a:t>
            </a:r>
            <a:endParaRPr lang="en-US" sz="1200" dirty="0"/>
          </a:p>
        </p:txBody>
      </p:sp>
      <p:sp>
        <p:nvSpPr>
          <p:cNvPr id="11" name="number 3"/>
          <p:cNvSpPr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umber text 3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question 3"/>
          <p:cNvSpPr txBox="1"/>
          <p:nvPr/>
        </p:nvSpPr>
        <p:spPr>
          <a:xfrm>
            <a:off x="914400" y="27614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Risk and confidentiality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What tier of client data it touches. Do walls, permissions and client instructions hold?</a:t>
            </a:r>
            <a:endParaRPr lang="en-US" sz="1200" dirty="0"/>
          </a:p>
        </p:txBody>
      </p:sp>
      <p:sp>
        <p:nvSpPr>
          <p:cNvPr id="14" name="number 4"/>
          <p:cNvSpPr/>
          <p:nvPr/>
        </p:nvSpPr>
        <p:spPr>
          <a:xfrm>
            <a:off x="457200" y="3364992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umber text 4"/>
          <p:cNvSpPr txBox="1"/>
          <p:nvPr/>
        </p:nvSpPr>
        <p:spPr>
          <a:xfrm>
            <a:off x="45720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question 4"/>
          <p:cNvSpPr txBox="1"/>
          <p:nvPr/>
        </p:nvSpPr>
        <p:spPr>
          <a:xfrm>
            <a:off x="914400" y="33284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Adoption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Does it fit how people already work, and does a partner want it?</a:t>
            </a:r>
            <a:endParaRPr lang="en-US" sz="1200" dirty="0"/>
          </a:p>
        </p:txBody>
      </p:sp>
      <p:sp>
        <p:nvSpPr>
          <p:cNvPr id="17" name="number 5"/>
          <p:cNvSpPr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umber text 5"/>
          <p:cNvSpPr txBox="1"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question 5"/>
          <p:cNvSpPr txBox="1"/>
          <p:nvPr/>
        </p:nvSpPr>
        <p:spPr>
          <a:xfrm>
            <a:off x="914400" y="38953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Supportability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Who maintains it, and does IT have what it needs to run it?</a:t>
            </a:r>
            <a:endParaRPr lang="en-US" sz="1200" dirty="0"/>
          </a:p>
        </p:txBody>
      </p:sp>
      <p:sp>
        <p:nvSpPr>
          <p:cNvPr id="20" name="order heading"/>
          <p:cNvSpPr txBox="1"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The order I would lean toward</a:t>
            </a:r>
            <a:endParaRPr lang="en-US" sz="1300" dirty="0"/>
          </a:p>
        </p:txBody>
      </p:sp>
      <p:sp>
        <p:nvSpPr>
          <p:cNvPr id="21" name="Configure first card"/>
          <p:cNvSpPr/>
          <p:nvPr/>
        </p:nvSpPr>
        <p:spPr>
          <a:xfrm>
            <a:off x="5029200" y="1645920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icon square"/>
          <p:cNvSpPr/>
          <p:nvPr/>
        </p:nvSpPr>
        <p:spPr>
          <a:xfrm>
            <a:off x="5138928" y="1792224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etting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3419" y="1876715"/>
            <a:ext cx="215067" cy="215067"/>
          </a:xfrm>
          <a:prstGeom prst="rect">
            <a:avLst/>
          </a:prstGeom>
        </p:spPr>
      </p:pic>
      <p:sp>
        <p:nvSpPr>
          <p:cNvPr id="24" name="Configure first text"/>
          <p:cNvSpPr txBox="1"/>
          <p:nvPr/>
        </p:nvSpPr>
        <p:spPr>
          <a:xfrm>
            <a:off x="5623560" y="1700784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Configure first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Get more from Copilot and the document system with approved prompts and checklists.</a:t>
            </a:r>
            <a:endParaRPr lang="en-US" sz="1200" dirty="0"/>
          </a:p>
        </p:txBody>
      </p:sp>
      <p:sp>
        <p:nvSpPr>
          <p:cNvPr id="25" name="Buy second card"/>
          <p:cNvSpPr/>
          <p:nvPr/>
        </p:nvSpPr>
        <p:spPr>
          <a:xfrm>
            <a:off x="5029200" y="2432304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icon square"/>
          <p:cNvSpPr/>
          <p:nvPr/>
        </p:nvSpPr>
        <p:spPr>
          <a:xfrm>
            <a:off x="5138928" y="2578608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car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419" y="2663099"/>
            <a:ext cx="215067" cy="215067"/>
          </a:xfrm>
          <a:prstGeom prst="rect">
            <a:avLst/>
          </a:prstGeom>
        </p:spPr>
      </p:pic>
      <p:sp>
        <p:nvSpPr>
          <p:cNvPr id="28" name="Buy second text"/>
          <p:cNvSpPr txBox="1"/>
          <p:nvPr/>
        </p:nvSpPr>
        <p:spPr>
          <a:xfrm>
            <a:off x="5623560" y="2487168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Buy second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Where the market is mature, after vetting vendors on data use, security, walls and audit logs.</a:t>
            </a:r>
            <a:endParaRPr lang="en-US" sz="1200" dirty="0"/>
          </a:p>
        </p:txBody>
      </p:sp>
      <p:sp>
        <p:nvSpPr>
          <p:cNvPr id="29" name="Build last card"/>
          <p:cNvSpPr/>
          <p:nvPr/>
        </p:nvSpPr>
        <p:spPr>
          <a:xfrm>
            <a:off x="5029200" y="3218688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con square"/>
          <p:cNvSpPr/>
          <p:nvPr/>
        </p:nvSpPr>
        <p:spPr>
          <a:xfrm>
            <a:off x="5138928" y="3364992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too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3419" y="3449483"/>
            <a:ext cx="215067" cy="215067"/>
          </a:xfrm>
          <a:prstGeom prst="rect">
            <a:avLst/>
          </a:prstGeom>
        </p:spPr>
      </p:pic>
      <p:sp>
        <p:nvSpPr>
          <p:cNvPr id="32" name="Build last text"/>
          <p:cNvSpPr txBox="1"/>
          <p:nvPr/>
        </p:nvSpPr>
        <p:spPr>
          <a:xfrm>
            <a:off x="5623560" y="327355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Build last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Only where the firm's own data and ways of working are the advantage.</a:t>
            </a:r>
            <a:endParaRPr lang="en-US" sz="1200" dirty="0"/>
          </a:p>
        </p:txBody>
      </p:sp>
      <p:sp>
        <p:nvSpPr>
          <p:cNvPr id="33" name="what IT keeps card"/>
          <p:cNvSpPr/>
          <p:nvPr/>
        </p:nvSpPr>
        <p:spPr>
          <a:xfrm>
            <a:off x="5029200" y="4041648"/>
            <a:ext cx="3657600" cy="713232"/>
          </a:xfrm>
          <a:prstGeom prst="rect">
            <a:avLst/>
          </a:prstGeom>
          <a:solidFill>
            <a:srgbClr val="2D4459"/>
          </a:solidFill>
          <a:ln w="12700">
            <a:solidFill>
              <a:srgbClr val="2D4459"/>
            </a:solidFill>
            <a:prstDash val="solid"/>
          </a:ln>
        </p:spPr>
      </p:sp>
      <p:sp>
        <p:nvSpPr>
          <p:cNvPr id="34" name="what IT keeps text"/>
          <p:cNvSpPr txBox="1"/>
          <p:nvPr/>
        </p:nvSpPr>
        <p:spPr>
          <a:xfrm>
            <a:off x="5166360" y="407822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All of it inside IT's rules. </a:t>
            </a:r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Infrastructure, security, vendor decisions and the final say on what goes live are IT's call. Nothing here assumes otherwise.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What a rollout could look like, and a longer view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One example, the guidelines brief, as I picture it: about two weeks, nothing new to host.</a:t>
            </a:r>
            <a:endParaRPr lang="en-US" sz="1300" dirty="0"/>
          </a:p>
        </p:txBody>
      </p:sp>
      <p:sp>
        <p:nvSpPr>
          <p:cNvPr id="4" name="step 1 card"/>
          <p:cNvSpPr/>
          <p:nvPr/>
        </p:nvSpPr>
        <p:spPr>
          <a:xfrm>
            <a:off x="457200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5" name="step number 1"/>
          <p:cNvSpPr/>
          <p:nvPr/>
        </p:nvSpPr>
        <p:spPr>
          <a:xfrm>
            <a:off x="566928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number text 1"/>
          <p:cNvSpPr txBox="1"/>
          <p:nvPr/>
        </p:nvSpPr>
        <p:spPr>
          <a:xfrm>
            <a:off x="566928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step title 1"/>
          <p:cNvSpPr txBox="1"/>
          <p:nvPr/>
        </p:nvSpPr>
        <p:spPr>
          <a:xfrm>
            <a:off x="950976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Collect</a:t>
            </a:r>
            <a:endParaRPr lang="en-US" sz="1400" dirty="0"/>
          </a:p>
        </p:txBody>
      </p:sp>
      <p:sp>
        <p:nvSpPr>
          <p:cNvPr id="8" name="step when 1"/>
          <p:cNvSpPr txBox="1"/>
          <p:nvPr/>
        </p:nvSpPr>
        <p:spPr>
          <a:xfrm>
            <a:off x="566928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 1</a:t>
            </a:r>
            <a:endParaRPr lang="en-US" sz="1000" dirty="0"/>
          </a:p>
        </p:txBody>
      </p:sp>
      <p:sp>
        <p:nvSpPr>
          <p:cNvPr id="9" name="step text 1"/>
          <p:cNvSpPr txBox="1"/>
          <p:nvPr/>
        </p:nvSpPr>
        <p:spPr>
          <a:xfrm>
            <a:off x="566928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Pull each client's outside counsel guidelines from the document system. They already exist.</a:t>
            </a:r>
            <a:endParaRPr lang="en-US" sz="950" dirty="0"/>
          </a:p>
        </p:txBody>
      </p:sp>
      <p:pic>
        <p:nvPicPr>
          <p:cNvPr id="10" name="step arrow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2148840"/>
            <a:ext cx="182880" cy="182880"/>
          </a:xfrm>
          <a:prstGeom prst="rect">
            <a:avLst/>
          </a:prstGeom>
        </p:spPr>
      </p:pic>
      <p:sp>
        <p:nvSpPr>
          <p:cNvPr id="11" name="step 2 card"/>
          <p:cNvSpPr/>
          <p:nvPr/>
        </p:nvSpPr>
        <p:spPr>
          <a:xfrm>
            <a:off x="2139696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2" name="step number 2"/>
          <p:cNvSpPr/>
          <p:nvPr/>
        </p:nvSpPr>
        <p:spPr>
          <a:xfrm>
            <a:off x="2249424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number text 2"/>
          <p:cNvSpPr txBox="1"/>
          <p:nvPr/>
        </p:nvSpPr>
        <p:spPr>
          <a:xfrm>
            <a:off x="2249424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step title 2"/>
          <p:cNvSpPr txBox="1"/>
          <p:nvPr/>
        </p:nvSpPr>
        <p:spPr>
          <a:xfrm>
            <a:off x="2633472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</a:t>
            </a:r>
            <a:endParaRPr lang="en-US" sz="1400" dirty="0"/>
          </a:p>
        </p:txBody>
      </p:sp>
      <p:sp>
        <p:nvSpPr>
          <p:cNvPr id="15" name="step when 2"/>
          <p:cNvSpPr txBox="1"/>
          <p:nvPr/>
        </p:nvSpPr>
        <p:spPr>
          <a:xfrm>
            <a:off x="2249424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Days 2 to 3</a:t>
            </a:r>
            <a:endParaRPr lang="en-US" sz="1000" dirty="0"/>
          </a:p>
        </p:txBody>
      </p:sp>
      <p:sp>
        <p:nvSpPr>
          <p:cNvPr id="16" name="step text 2"/>
          <p:cNvSpPr txBox="1"/>
          <p:nvPr/>
        </p:nvSpPr>
        <p:spPr>
          <a:xfrm>
            <a:off x="2249424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The tool reads each guideline and writes a one-page brief of its billing rules, with the source paragraph behind each line.</a:t>
            </a:r>
            <a:endParaRPr lang="en-US" sz="950" dirty="0"/>
          </a:p>
        </p:txBody>
      </p:sp>
      <p:pic>
        <p:nvPicPr>
          <p:cNvPr id="17" name="step arrow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2148840"/>
            <a:ext cx="182880" cy="182880"/>
          </a:xfrm>
          <a:prstGeom prst="rect">
            <a:avLst/>
          </a:prstGeom>
        </p:spPr>
      </p:pic>
      <p:sp>
        <p:nvSpPr>
          <p:cNvPr id="18" name="step 3 card"/>
          <p:cNvSpPr/>
          <p:nvPr/>
        </p:nvSpPr>
        <p:spPr>
          <a:xfrm>
            <a:off x="3822192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9" name="step number 3"/>
          <p:cNvSpPr/>
          <p:nvPr/>
        </p:nvSpPr>
        <p:spPr>
          <a:xfrm>
            <a:off x="3931920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number text 3"/>
          <p:cNvSpPr txBox="1"/>
          <p:nvPr/>
        </p:nvSpPr>
        <p:spPr>
          <a:xfrm>
            <a:off x="393192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step title 3"/>
          <p:cNvSpPr txBox="1"/>
          <p:nvPr/>
        </p:nvSpPr>
        <p:spPr>
          <a:xfrm>
            <a:off x="4315968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 review</a:t>
            </a:r>
            <a:endParaRPr lang="en-US" sz="1400" dirty="0"/>
          </a:p>
        </p:txBody>
      </p:sp>
      <p:sp>
        <p:nvSpPr>
          <p:cNvPr id="22" name="step when 3"/>
          <p:cNvSpPr txBox="1"/>
          <p:nvPr/>
        </p:nvSpPr>
        <p:spPr>
          <a:xfrm>
            <a:off x="3931920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 4</a:t>
            </a:r>
            <a:endParaRPr lang="en-US" sz="1000" dirty="0"/>
          </a:p>
        </p:txBody>
      </p:sp>
      <p:sp>
        <p:nvSpPr>
          <p:cNvPr id="23" name="step text 3"/>
          <p:cNvSpPr txBox="1"/>
          <p:nvPr/>
        </p:nvSpPr>
        <p:spPr>
          <a:xfrm>
            <a:off x="3931920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Runs on firm hardware, no client text leaves. Sign-on, role-based access and an audit log are shown to IT in one sitting.</a:t>
            </a:r>
            <a:endParaRPr lang="en-US" sz="950" dirty="0"/>
          </a:p>
        </p:txBody>
      </p:sp>
      <p:pic>
        <p:nvPicPr>
          <p:cNvPr id="24" name="step arrow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84" y="2148840"/>
            <a:ext cx="182880" cy="182880"/>
          </a:xfrm>
          <a:prstGeom prst="rect">
            <a:avLst/>
          </a:prstGeom>
        </p:spPr>
      </p:pic>
      <p:sp>
        <p:nvSpPr>
          <p:cNvPr id="25" name="step 4 card"/>
          <p:cNvSpPr/>
          <p:nvPr/>
        </p:nvSpPr>
        <p:spPr>
          <a:xfrm>
            <a:off x="5504688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26" name="step number 4"/>
          <p:cNvSpPr/>
          <p:nvPr/>
        </p:nvSpPr>
        <p:spPr>
          <a:xfrm>
            <a:off x="5614416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step number text 4"/>
          <p:cNvSpPr txBox="1"/>
          <p:nvPr/>
        </p:nvSpPr>
        <p:spPr>
          <a:xfrm>
            <a:off x="5614416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tep title 4"/>
          <p:cNvSpPr txBox="1"/>
          <p:nvPr/>
        </p:nvSpPr>
        <p:spPr>
          <a:xfrm>
            <a:off x="5998464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Pilot</a:t>
            </a:r>
            <a:endParaRPr lang="en-US" sz="1400" dirty="0"/>
          </a:p>
        </p:txBody>
      </p:sp>
      <p:sp>
        <p:nvSpPr>
          <p:cNvPr id="29" name="step when 4"/>
          <p:cNvSpPr txBox="1"/>
          <p:nvPr/>
        </p:nvSpPr>
        <p:spPr>
          <a:xfrm>
            <a:off x="5614416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Week 2</a:t>
            </a:r>
            <a:endParaRPr lang="en-US" sz="1000" dirty="0"/>
          </a:p>
        </p:txBody>
      </p:sp>
      <p:sp>
        <p:nvSpPr>
          <p:cNvPr id="30" name="step text 4"/>
          <p:cNvSpPr txBox="1"/>
          <p:nvPr/>
        </p:nvSpPr>
        <p:spPr>
          <a:xfrm>
            <a:off x="5614416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One billing partner, one client's prebills. Entries that break a rule are flagged with the rule quoted. A person decides what to change.</a:t>
            </a:r>
            <a:endParaRPr lang="en-US" sz="950" dirty="0"/>
          </a:p>
        </p:txBody>
      </p:sp>
      <p:pic>
        <p:nvPicPr>
          <p:cNvPr id="31" name="step arrow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148840"/>
            <a:ext cx="182880" cy="182880"/>
          </a:xfrm>
          <a:prstGeom prst="rect">
            <a:avLst/>
          </a:prstGeom>
        </p:spPr>
      </p:pic>
      <p:sp>
        <p:nvSpPr>
          <p:cNvPr id="32" name="step 5 card"/>
          <p:cNvSpPr/>
          <p:nvPr/>
        </p:nvSpPr>
        <p:spPr>
          <a:xfrm>
            <a:off x="7187184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7296912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step number text 5"/>
          <p:cNvSpPr txBox="1"/>
          <p:nvPr/>
        </p:nvSpPr>
        <p:spPr>
          <a:xfrm>
            <a:off x="7296912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itle 5"/>
          <p:cNvSpPr txBox="1"/>
          <p:nvPr/>
        </p:nvSpPr>
        <p:spPr>
          <a:xfrm>
            <a:off x="7680960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 use</a:t>
            </a:r>
            <a:endParaRPr lang="en-US" sz="1400" dirty="0"/>
          </a:p>
        </p:txBody>
      </p:sp>
      <p:sp>
        <p:nvSpPr>
          <p:cNvPr id="36" name="step when 5"/>
          <p:cNvSpPr txBox="1"/>
          <p:nvPr/>
        </p:nvSpPr>
        <p:spPr>
          <a:xfrm>
            <a:off x="7296912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Week 3 on</a:t>
            </a:r>
            <a:endParaRPr lang="en-US" sz="1000" dirty="0"/>
          </a:p>
        </p:txBody>
      </p:sp>
      <p:sp>
        <p:nvSpPr>
          <p:cNvPr id="37" name="step text 5"/>
          <p:cNvSpPr txBox="1"/>
          <p:nvPr/>
        </p:nvSpPr>
        <p:spPr>
          <a:xfrm>
            <a:off x="7296912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The brief sits on the matter. The flags appear in the prebill review step that already happens. Nobody learns a new program.</a:t>
            </a:r>
            <a:endParaRPr lang="en-US" sz="950" dirty="0"/>
          </a:p>
        </p:txBody>
      </p:sp>
      <p:sp>
        <p:nvSpPr>
          <p:cNvPr id="38" name="why easy heading"/>
          <p:cNvSpPr txBox="1"/>
          <p:nvPr/>
        </p:nvSpPr>
        <p:spPr>
          <a:xfrm>
            <a:off x="457200" y="3310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Why I would pick it:</a:t>
            </a:r>
            <a:endParaRPr lang="en-US" sz="1100" dirty="0"/>
          </a:p>
        </p:txBody>
      </p:sp>
      <p:sp>
        <p:nvSpPr>
          <p:cNvPr id="39" name="icon square"/>
          <p:cNvSpPr/>
          <p:nvPr/>
        </p:nvSpPr>
        <p:spPr>
          <a:xfrm>
            <a:off x="201168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lis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007" y="3384743"/>
            <a:ext cx="143378" cy="143378"/>
          </a:xfrm>
          <a:prstGeom prst="rect">
            <a:avLst/>
          </a:prstGeom>
        </p:spPr>
      </p:pic>
      <p:sp>
        <p:nvSpPr>
          <p:cNvPr id="41" name="easy 1"/>
          <p:cNvSpPr txBox="1"/>
          <p:nvPr/>
        </p:nvSpPr>
        <p:spPr>
          <a:xfrm>
            <a:off x="232257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Inputs already exist</a:t>
            </a:r>
            <a:endParaRPr lang="en-US" sz="1050" dirty="0"/>
          </a:p>
        </p:txBody>
      </p:sp>
      <p:sp>
        <p:nvSpPr>
          <p:cNvPr id="42" name="icon square"/>
          <p:cNvSpPr/>
          <p:nvPr/>
        </p:nvSpPr>
        <p:spPr>
          <a:xfrm>
            <a:off x="370332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check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9647" y="3384743"/>
            <a:ext cx="143378" cy="143378"/>
          </a:xfrm>
          <a:prstGeom prst="rect">
            <a:avLst/>
          </a:prstGeom>
        </p:spPr>
      </p:pic>
      <p:sp>
        <p:nvSpPr>
          <p:cNvPr id="44" name="easy 2"/>
          <p:cNvSpPr txBox="1"/>
          <p:nvPr/>
        </p:nvSpPr>
        <p:spPr>
          <a:xfrm>
            <a:off x="401421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 person reviews it</a:t>
            </a:r>
            <a:endParaRPr lang="en-US" sz="1050" dirty="0"/>
          </a:p>
        </p:txBody>
      </p:sp>
      <p:sp>
        <p:nvSpPr>
          <p:cNvPr id="45" name="icon square"/>
          <p:cNvSpPr/>
          <p:nvPr/>
        </p:nvSpPr>
        <p:spPr>
          <a:xfrm>
            <a:off x="539496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setting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1287" y="3384743"/>
            <a:ext cx="143378" cy="143378"/>
          </a:xfrm>
          <a:prstGeom prst="rect">
            <a:avLst/>
          </a:prstGeom>
        </p:spPr>
      </p:pic>
      <p:sp>
        <p:nvSpPr>
          <p:cNvPr id="47" name="easy 3"/>
          <p:cNvSpPr txBox="1"/>
          <p:nvPr/>
        </p:nvSpPr>
        <p:spPr>
          <a:xfrm>
            <a:off x="570585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No new habits</a:t>
            </a:r>
            <a:endParaRPr lang="en-US" sz="1050" dirty="0"/>
          </a:p>
        </p:txBody>
      </p:sp>
      <p:sp>
        <p:nvSpPr>
          <p:cNvPr id="48" name="icon square"/>
          <p:cNvSpPr/>
          <p:nvPr/>
        </p:nvSpPr>
        <p:spPr>
          <a:xfrm>
            <a:off x="708660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shield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2927" y="3384743"/>
            <a:ext cx="143378" cy="143378"/>
          </a:xfrm>
          <a:prstGeom prst="rect">
            <a:avLst/>
          </a:prstGeom>
        </p:spPr>
      </p:pic>
      <p:sp>
        <p:nvSpPr>
          <p:cNvPr id="50" name="easy 4"/>
          <p:cNvSpPr txBox="1"/>
          <p:nvPr/>
        </p:nvSpPr>
        <p:spPr>
          <a:xfrm>
            <a:off x="739749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Easy to stop</a:t>
            </a:r>
            <a:endParaRPr lang="en-US" sz="1050" dirty="0"/>
          </a:p>
        </p:txBody>
      </p:sp>
      <p:sp>
        <p:nvSpPr>
          <p:cNvPr id="51" name="long-term goal card"/>
          <p:cNvSpPr/>
          <p:nvPr/>
        </p:nvSpPr>
        <p:spPr>
          <a:xfrm>
            <a:off x="457200" y="3749040"/>
            <a:ext cx="8229600" cy="10515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2" name="long-term goal heading"/>
          <p:cNvSpPr txBox="1"/>
          <p:nvPr/>
        </p:nvSpPr>
        <p:spPr>
          <a:xfrm>
            <a:off x="640080" y="38130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longer view, for discussion: one firm-owned platform</a:t>
            </a:r>
            <a:endParaRPr lang="en-US" sz="1400" dirty="0"/>
          </a:p>
        </p:txBody>
      </p:sp>
      <p:sp>
        <p:nvSpPr>
          <p:cNvPr id="53" name="long-term goal text"/>
          <p:cNvSpPr txBox="1"/>
          <p:nvPr/>
        </p:nvSpPr>
        <p:spPr>
          <a:xfrm>
            <a:off x="640080" y="411480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An idea I keep coming back to: an in-house system that, over time, touches every file, matter and system the firm runs, with each tool here as a module of it, one set of permissions, one audit trail and models on firm hardware. The firm would own the code, the data and the roadmap. That is a long way off and leadership's call; I raise it because the quick wins can be built so they add up to it rather than stand alone.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for the firm">
  <a:themeElements>
    <a:clrScheme name="AI for the firm">
      <a:dk1>
        <a:srgbClr val="211E1F"/>
      </a:dk1>
      <a:lt1>
        <a:srgbClr val="FFFFFF"/>
      </a:lt1>
      <a:dk2>
        <a:srgbClr val="5E5E5E"/>
      </a:dk2>
      <a:lt2>
        <a:srgbClr val="F2F2F2"/>
      </a:lt2>
      <a:accent1>
        <a:srgbClr val="436C6D"/>
      </a:accent1>
      <a:accent2>
        <a:srgbClr val="E16E39"/>
      </a:accent2>
      <a:accent3>
        <a:srgbClr val="BFE0D5"/>
      </a:accent3>
      <a:accent4>
        <a:srgbClr val="66938F"/>
      </a:accent4>
      <a:accent5>
        <a:srgbClr val="436C6D"/>
      </a:accent5>
      <a:accent6>
        <a:srgbClr val="BDD7DE"/>
      </a:accent6>
      <a:hlink>
        <a:srgbClr val="436C6D"/>
      </a:hlink>
      <a:folHlink>
        <a:srgbClr val="5E5E5E"/>
      </a:folHlink>
    </a:clrScheme>
    <a:fontScheme name="AI for the fir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 have built and can build with AI</dc:title>
  <dc:subject>PptxGenJS Presentation</dc:subject>
  <dc:creator>Myles Parslow</dc:creator>
  <cp:lastModifiedBy>Myles Parslow</cp:lastModifiedBy>
  <cp:revision>1</cp:revision>
  <dcterms:created xsi:type="dcterms:W3CDTF">2026-10-28T23:51:14Z</dcterms:created>
  <dcterms:modified xsi:type="dcterms:W3CDTF">2026-10-28T23:51:14Z</dcterms:modified>
</cp:coreProperties>
</file>