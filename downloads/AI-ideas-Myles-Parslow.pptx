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I for the firm" id="{c95b617e-a02c-da72-5d64-599594b049e7}">
          <p14:sldIdLst>
            <p14:sldId id="256"/>
            <p14:sldId id="257"/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2D4459"/>
                </a:solidFill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2D4459"/>
                </a:solidFill>
              </a:rPr>
              <a:t>Title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i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Kicker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D44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Title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i="1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Kicker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D4459"/>
                </a:solidFill>
              </a:rPr>
              <a:t>I have built fifteen working legal tools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Built in my free time with invented clients. Orange marks the three that could be used right away.</a:t>
            </a:r>
            <a:endParaRPr lang="en-US" sz="1300" dirty="0"/>
          </a:p>
        </p:txBody>
      </p:sp>
      <p:sp>
        <p:nvSpPr>
          <p:cNvPr id="4" name="Conflicts and intake heading"/>
          <p:cNvSpPr txBox="1"/>
          <p:nvPr/>
        </p:nvSpPr>
        <p:spPr>
          <a:xfrm>
            <a:off x="457200" y="118872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chemeClr val="accent5"/>
                </a:solidFill>
              </a:rPr>
              <a:t>CONFLICTS AND INTAKE</a:t>
            </a:r>
            <a:endParaRPr lang="en-US" sz="900" dirty="0"/>
          </a:p>
        </p:txBody>
      </p:sp>
      <p:sp>
        <p:nvSpPr>
          <p:cNvPr id="5" name="Conflion name"/>
          <p:cNvSpPr txBox="1"/>
          <p:nvPr/>
        </p:nvSpPr>
        <p:spPr>
          <a:xfrm>
            <a:off x="457200" y="14356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Conflion</a:t>
            </a:r>
            <a:endParaRPr lang="en-US" sz="1050" dirty="0"/>
          </a:p>
        </p:txBody>
      </p:sp>
      <p:sp>
        <p:nvSpPr>
          <p:cNvPr id="6" name="Conflion line"/>
          <p:cNvSpPr txBox="1"/>
          <p:nvPr/>
        </p:nvSpPr>
        <p:spPr>
          <a:xfrm>
            <a:off x="1691640" y="143560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Finds the conflicts a letter-for-letter search misses and routes each intake to the right approvers.</a:t>
            </a:r>
            <a:endParaRPr lang="en-US" sz="950" dirty="0"/>
          </a:p>
        </p:txBody>
      </p:sp>
      <p:sp>
        <p:nvSpPr>
          <p:cNvPr id="7" name="Party Finder name"/>
          <p:cNvSpPr txBox="1"/>
          <p:nvPr/>
        </p:nvSpPr>
        <p:spPr>
          <a:xfrm>
            <a:off x="457200" y="181965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Party Finder</a:t>
            </a:r>
            <a:endParaRPr lang="en-US" sz="1050" dirty="0"/>
          </a:p>
        </p:txBody>
      </p:sp>
      <p:sp>
        <p:nvSpPr>
          <p:cNvPr id="8" name="Party Finder line"/>
          <p:cNvSpPr txBox="1"/>
          <p:nvPr/>
        </p:nvSpPr>
        <p:spPr>
          <a:xfrm>
            <a:off x="1691640" y="1819656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Reads the complaint or deal papers and lists every name to run, so intake misses no one.</a:t>
            </a:r>
            <a:endParaRPr lang="en-US" sz="950" dirty="0"/>
          </a:p>
        </p:txBody>
      </p:sp>
      <p:sp>
        <p:nvSpPr>
          <p:cNvPr id="9" name="LexAtlas name"/>
          <p:cNvSpPr txBox="1"/>
          <p:nvPr/>
        </p:nvSpPr>
        <p:spPr>
          <a:xfrm>
            <a:off x="457200" y="220370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LexAtlas</a:t>
            </a:r>
            <a:endParaRPr lang="en-US" sz="1050" dirty="0"/>
          </a:p>
        </p:txBody>
      </p:sp>
      <p:sp>
        <p:nvSpPr>
          <p:cNvPr id="10" name="LexAtlas line"/>
          <p:cNvSpPr txBox="1"/>
          <p:nvPr/>
        </p:nvSpPr>
        <p:spPr>
          <a:xfrm>
            <a:off x="1691640" y="2203704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Maps how companies, people and matters connect, for conflicts and diligence.</a:t>
            </a:r>
            <a:endParaRPr lang="en-US" sz="950" dirty="0"/>
          </a:p>
        </p:txBody>
      </p:sp>
      <p:sp>
        <p:nvSpPr>
          <p:cNvPr id="11" name="VigilMark name"/>
          <p:cNvSpPr txBox="1"/>
          <p:nvPr/>
        </p:nvSpPr>
        <p:spPr>
          <a:xfrm>
            <a:off x="457200" y="25877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VigilMark</a:t>
            </a:r>
            <a:endParaRPr lang="en-US" sz="1050" dirty="0"/>
          </a:p>
        </p:txBody>
      </p:sp>
      <p:sp>
        <p:nvSpPr>
          <p:cNvPr id="12" name="VigilMark line"/>
          <p:cNvSpPr txBox="1"/>
          <p:nvPr/>
        </p:nvSpPr>
        <p:spPr>
          <a:xfrm>
            <a:off x="1691640" y="258775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Ranks new trademark filings against clients' marks before the opposition window closes.</a:t>
            </a:r>
            <a:endParaRPr lang="en-US" sz="950" dirty="0"/>
          </a:p>
        </p:txBody>
      </p:sp>
      <p:sp>
        <p:nvSpPr>
          <p:cNvPr id="13" name="Litigation heading"/>
          <p:cNvSpPr txBox="1"/>
          <p:nvPr/>
        </p:nvSpPr>
        <p:spPr>
          <a:xfrm>
            <a:off x="457200" y="304495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chemeClr val="accent5"/>
                </a:solidFill>
              </a:rPr>
              <a:t>LITIGATION</a:t>
            </a:r>
            <a:endParaRPr lang="en-US" sz="900" dirty="0"/>
          </a:p>
        </p:txBody>
      </p:sp>
      <p:sp>
        <p:nvSpPr>
          <p:cNvPr id="14" name="Win your case ASAP name"/>
          <p:cNvSpPr txBox="1"/>
          <p:nvPr/>
        </p:nvSpPr>
        <p:spPr>
          <a:xfrm>
            <a:off x="457200" y="3291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Win your case ASAP</a:t>
            </a:r>
            <a:endParaRPr lang="en-US" sz="1050" dirty="0"/>
          </a:p>
        </p:txBody>
      </p:sp>
      <p:sp>
        <p:nvSpPr>
          <p:cNvPr id="15" name="Win your case ASAP line"/>
          <p:cNvSpPr txBox="1"/>
          <p:nvPr/>
        </p:nvSpPr>
        <p:spPr>
          <a:xfrm>
            <a:off x="1691640" y="32918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First read of a complaint: which motions could end the case early, with filing dates.</a:t>
            </a:r>
            <a:endParaRPr lang="en-US" sz="950" dirty="0"/>
          </a:p>
        </p:txBody>
      </p:sp>
      <p:sp>
        <p:nvSpPr>
          <p:cNvPr id="16" name="Testimony Check name"/>
          <p:cNvSpPr txBox="1"/>
          <p:nvPr/>
        </p:nvSpPr>
        <p:spPr>
          <a:xfrm>
            <a:off x="457200" y="367588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Testimony Check</a:t>
            </a:r>
            <a:endParaRPr lang="en-US" sz="1050" dirty="0"/>
          </a:p>
        </p:txBody>
      </p:sp>
      <p:sp>
        <p:nvSpPr>
          <p:cNvPr id="17" name="Testimony Check line"/>
          <p:cNvSpPr txBox="1"/>
          <p:nvPr/>
        </p:nvSpPr>
        <p:spPr>
          <a:xfrm>
            <a:off x="1691640" y="367588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Finds where a witness's story conflicts with the documents and drafts the deposition outline.</a:t>
            </a:r>
            <a:endParaRPr lang="en-US" sz="950" dirty="0"/>
          </a:p>
        </p:txBody>
      </p:sp>
      <p:sp>
        <p:nvSpPr>
          <p:cNvPr id="18" name="Citation Gate name"/>
          <p:cNvSpPr txBox="1"/>
          <p:nvPr/>
        </p:nvSpPr>
        <p:spPr>
          <a:xfrm>
            <a:off x="457200" y="405993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Citation Gate</a:t>
            </a:r>
            <a:endParaRPr lang="en-US" sz="1050" dirty="0"/>
          </a:p>
        </p:txBody>
      </p:sp>
      <p:sp>
        <p:nvSpPr>
          <p:cNvPr id="19" name="Citation Gate line"/>
          <p:cNvSpPr txBox="1"/>
          <p:nvPr/>
        </p:nvSpPr>
        <p:spPr>
          <a:xfrm>
            <a:off x="1691640" y="4059936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Checks every cited case and quotation against real opinions before a brief goes out.</a:t>
            </a:r>
            <a:endParaRPr lang="en-US" sz="950" dirty="0"/>
          </a:p>
        </p:txBody>
      </p:sp>
      <p:sp>
        <p:nvSpPr>
          <p:cNvPr id="20" name="Case Wins Debrief name"/>
          <p:cNvSpPr txBox="1"/>
          <p:nvPr/>
        </p:nvSpPr>
        <p:spPr>
          <a:xfrm>
            <a:off x="457200" y="444398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Case Wins Debrief</a:t>
            </a:r>
            <a:endParaRPr lang="en-US" sz="1050" dirty="0"/>
          </a:p>
        </p:txBody>
      </p:sp>
      <p:sp>
        <p:nvSpPr>
          <p:cNvPr id="21" name="Case Wins Debrief line"/>
          <p:cNvSpPr txBox="1"/>
          <p:nvPr/>
        </p:nvSpPr>
        <p:spPr>
          <a:xfrm>
            <a:off x="1691640" y="4443984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Turns each trial win into lessons and a tool the next team can reuse.</a:t>
            </a:r>
            <a:endParaRPr lang="en-US" sz="950" dirty="0"/>
          </a:p>
        </p:txBody>
      </p:sp>
      <p:sp>
        <p:nvSpPr>
          <p:cNvPr id="22" name="Transactions and practice groups heading"/>
          <p:cNvSpPr txBox="1"/>
          <p:nvPr/>
        </p:nvSpPr>
        <p:spPr>
          <a:xfrm>
            <a:off x="4663440" y="118872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chemeClr val="accent5"/>
                </a:solidFill>
              </a:rPr>
              <a:t>TRANSACTIONS AND PRACTICE GROUPS</a:t>
            </a:r>
            <a:endParaRPr lang="en-US" sz="900" dirty="0"/>
          </a:p>
        </p:txBody>
      </p:sp>
      <p:sp>
        <p:nvSpPr>
          <p:cNvPr id="23" name="Matter Desk name"/>
          <p:cNvSpPr txBox="1"/>
          <p:nvPr/>
        </p:nvSpPr>
        <p:spPr>
          <a:xfrm>
            <a:off x="4663440" y="14356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Matter Desk</a:t>
            </a:r>
            <a:endParaRPr lang="en-US" sz="1050" dirty="0"/>
          </a:p>
        </p:txBody>
      </p:sp>
      <p:sp>
        <p:nvSpPr>
          <p:cNvPr id="24" name="Matter Desk line"/>
          <p:cNvSpPr txBox="1"/>
          <p:nvPr/>
        </p:nvSpPr>
        <p:spPr>
          <a:xfrm>
            <a:off x="5897880" y="143560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First read of a new matter in five practice areas, with every deadline dated.</a:t>
            </a:r>
            <a:endParaRPr lang="en-US" sz="950" dirty="0"/>
          </a:p>
        </p:txBody>
      </p:sp>
      <p:sp>
        <p:nvSpPr>
          <p:cNvPr id="25" name="Synthesis name"/>
          <p:cNvSpPr txBox="1"/>
          <p:nvPr/>
        </p:nvSpPr>
        <p:spPr>
          <a:xfrm>
            <a:off x="4663440" y="181965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Synthesis</a:t>
            </a:r>
            <a:endParaRPr lang="en-US" sz="1050" dirty="0"/>
          </a:p>
        </p:txBody>
      </p:sp>
      <p:sp>
        <p:nvSpPr>
          <p:cNvPr id="26" name="Synthesis line"/>
          <p:cNvSpPr txBox="1"/>
          <p:nvPr/>
        </p:nvSpPr>
        <p:spPr>
          <a:xfrm>
            <a:off x="5897880" y="1819656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Buy-side deal workbench: schedules against reps, the markup explained, closing list built.</a:t>
            </a:r>
            <a:endParaRPr lang="en-US" sz="950" dirty="0"/>
          </a:p>
        </p:txBody>
      </p:sp>
      <p:sp>
        <p:nvSpPr>
          <p:cNvPr id="27" name="Skippy name"/>
          <p:cNvSpPr txBox="1"/>
          <p:nvPr/>
        </p:nvSpPr>
        <p:spPr>
          <a:xfrm>
            <a:off x="4663440" y="220370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Skippy</a:t>
            </a:r>
            <a:endParaRPr lang="en-US" sz="1050" dirty="0"/>
          </a:p>
        </p:txBody>
      </p:sp>
      <p:sp>
        <p:nvSpPr>
          <p:cNvPr id="28" name="Skippy line"/>
          <p:cNvSpPr txBox="1"/>
          <p:nvPr/>
        </p:nvSpPr>
        <p:spPr>
          <a:xfrm>
            <a:off x="5897880" y="2203704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Answers questions about a matter's files, every answer cited to the page.</a:t>
            </a:r>
            <a:endParaRPr lang="en-US" sz="950" dirty="0"/>
          </a:p>
        </p:txBody>
      </p:sp>
      <p:sp>
        <p:nvSpPr>
          <p:cNvPr id="29" name="Billing and time heading"/>
          <p:cNvSpPr txBox="1"/>
          <p:nvPr/>
        </p:nvSpPr>
        <p:spPr>
          <a:xfrm>
            <a:off x="4663440" y="2660904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chemeClr val="accent5"/>
                </a:solidFill>
              </a:rPr>
              <a:t>BILLING AND TIME</a:t>
            </a:r>
            <a:endParaRPr lang="en-US" sz="900" dirty="0"/>
          </a:p>
        </p:txBody>
      </p:sp>
      <p:sp>
        <p:nvSpPr>
          <p:cNvPr id="30" name="Guideline Guard name"/>
          <p:cNvSpPr txBox="1"/>
          <p:nvPr/>
        </p:nvSpPr>
        <p:spPr>
          <a:xfrm>
            <a:off x="4663440" y="29077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Guideline Guard</a:t>
            </a:r>
            <a:endParaRPr lang="en-US" sz="1050" dirty="0"/>
          </a:p>
        </p:txBody>
      </p:sp>
      <p:sp>
        <p:nvSpPr>
          <p:cNvPr id="31" name="Guideline Guard line"/>
          <p:cNvSpPr txBox="1"/>
          <p:nvPr/>
        </p:nvSpPr>
        <p:spPr>
          <a:xfrm>
            <a:off x="5897880" y="290779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Checks each prebill against that client's own guidelines and proposes the fix.</a:t>
            </a:r>
            <a:endParaRPr lang="en-US" sz="950" dirty="0"/>
          </a:p>
        </p:txBody>
      </p:sp>
      <p:sp>
        <p:nvSpPr>
          <p:cNvPr id="32" name="Hour Catch name"/>
          <p:cNvSpPr txBox="1"/>
          <p:nvPr/>
        </p:nvSpPr>
        <p:spPr>
          <a:xfrm>
            <a:off x="4663440" y="3291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Hour Catch</a:t>
            </a:r>
            <a:endParaRPr lang="en-US" sz="1050" dirty="0"/>
          </a:p>
        </p:txBody>
      </p:sp>
      <p:sp>
        <p:nvSpPr>
          <p:cNvPr id="33" name="Hour Catch line"/>
          <p:cNvSpPr txBox="1"/>
          <p:nvPr/>
        </p:nvSpPr>
        <p:spPr>
          <a:xfrm>
            <a:off x="5897880" y="32918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Reads a lawyer's day in Outlook and Teams and drafts the time entries that would be lost.</a:t>
            </a:r>
            <a:endParaRPr lang="en-US" sz="950" dirty="0"/>
          </a:p>
        </p:txBody>
      </p:sp>
      <p:sp>
        <p:nvSpPr>
          <p:cNvPr id="34" name="Firm strategy and marketing heading"/>
          <p:cNvSpPr txBox="1"/>
          <p:nvPr/>
        </p:nvSpPr>
        <p:spPr>
          <a:xfrm>
            <a:off x="4663440" y="374904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chemeClr val="accent5"/>
                </a:solidFill>
              </a:rPr>
              <a:t>FIRM STRATEGY AND MARKETING</a:t>
            </a:r>
            <a:endParaRPr lang="en-US" sz="900" dirty="0"/>
          </a:p>
        </p:txBody>
      </p:sp>
      <p:sp>
        <p:nvSpPr>
          <p:cNvPr id="35" name="Praxis name"/>
          <p:cNvSpPr txBox="1"/>
          <p:nvPr/>
        </p:nvSpPr>
        <p:spPr>
          <a:xfrm>
            <a:off x="4663440" y="39959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Praxis</a:t>
            </a:r>
            <a:endParaRPr lang="en-US" sz="1050" dirty="0"/>
          </a:p>
        </p:txBody>
      </p:sp>
      <p:sp>
        <p:nvSpPr>
          <p:cNvPr id="36" name="Praxis line"/>
          <p:cNvSpPr txBox="1"/>
          <p:nvPr/>
        </p:nvSpPr>
        <p:spPr>
          <a:xfrm>
            <a:off x="5897880" y="399592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Lets leadership compare AI ideas on impact, risk and effort, and track the pilots.</a:t>
            </a:r>
            <a:endParaRPr lang="en-US" sz="950" dirty="0"/>
          </a:p>
        </p:txBody>
      </p:sp>
      <p:sp>
        <p:nvSpPr>
          <p:cNvPr id="37" name="Marketing Studio name"/>
          <p:cNvSpPr txBox="1"/>
          <p:nvPr/>
        </p:nvSpPr>
        <p:spPr>
          <a:xfrm>
            <a:off x="4663440" y="437997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Marketing Studio</a:t>
            </a:r>
            <a:endParaRPr lang="en-US" sz="1050" dirty="0"/>
          </a:p>
        </p:txBody>
      </p:sp>
      <p:sp>
        <p:nvSpPr>
          <p:cNvPr id="38" name="Marketing Studio line"/>
          <p:cNvSpPr txBox="1"/>
          <p:nvPr/>
        </p:nvSpPr>
        <p:spPr>
          <a:xfrm>
            <a:off x="5897880" y="4379976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Drafts bios, client alerts and RFP responses in the firm's voice, then checks the rules.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D4459"/>
                </a:solidFill>
              </a:rPr>
              <a:t>Three of them could be used right away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None needs a connection to firm systems. Each runs in a browser on an approved account, and a person reviews every output.</a:t>
            </a:r>
            <a:endParaRPr lang="en-US" sz="1300" dirty="0"/>
          </a:p>
        </p:txBody>
      </p:sp>
      <p:sp>
        <p:nvSpPr>
          <p:cNvPr id="4" name="Guideline Guard card"/>
          <p:cNvSpPr/>
          <p:nvPr/>
        </p:nvSpPr>
        <p:spPr>
          <a:xfrm>
            <a:off x="457200" y="1280160"/>
            <a:ext cx="2651760" cy="3383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con square"/>
          <p:cNvSpPr/>
          <p:nvPr/>
        </p:nvSpPr>
        <p:spPr>
          <a:xfrm>
            <a:off x="594360" y="141732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dolla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851" y="1501811"/>
            <a:ext cx="215067" cy="215067"/>
          </a:xfrm>
          <a:prstGeom prst="rect">
            <a:avLst/>
          </a:prstGeom>
        </p:spPr>
      </p:pic>
      <p:sp>
        <p:nvSpPr>
          <p:cNvPr id="7" name="Guideline Guard name"/>
          <p:cNvSpPr txBox="1"/>
          <p:nvPr/>
        </p:nvSpPr>
        <p:spPr>
          <a:xfrm>
            <a:off x="1097280" y="138988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Guideline Guard</a:t>
            </a:r>
            <a:endParaRPr lang="en-US" sz="1400" dirty="0"/>
          </a:p>
        </p:txBody>
      </p:sp>
      <p:sp>
        <p:nvSpPr>
          <p:cNvPr id="8" name="Guideline Guard what"/>
          <p:cNvSpPr txBox="1"/>
          <p:nvPr/>
        </p:nvSpPr>
        <p:spPr>
          <a:xfrm>
            <a:off x="594360" y="196596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Checks each prebill against that client's outside counsel guidelines, quotes the rule it applies and proposes the fix.</a:t>
            </a:r>
            <a:endParaRPr lang="en-US" sz="1150" dirty="0"/>
          </a:p>
        </p:txBody>
      </p:sp>
      <p:sp>
        <p:nvSpPr>
          <p:cNvPr id="9" name="Guideline Guard helps"/>
          <p:cNvSpPr txBox="1"/>
          <p:nvPr/>
        </p:nvSpPr>
        <p:spPr>
          <a:xfrm>
            <a:off x="594360" y="31546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Helps: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Billing and responsible partners. Fewer write-offs and rejected invoices.</a:t>
            </a:r>
            <a:endParaRPr lang="en-US" sz="1050" dirty="0"/>
          </a:p>
        </p:txBody>
      </p:sp>
      <p:sp>
        <p:nvSpPr>
          <p:cNvPr id="10" name="Guideline Guard needs"/>
          <p:cNvSpPr txBox="1"/>
          <p:nvPr/>
        </p:nvSpPr>
        <p:spPr>
          <a:xfrm>
            <a:off x="594360" y="3931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To run it here: </a:t>
            </a:r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The client's guidelines and the prebill.</a:t>
            </a:r>
            <a:endParaRPr lang="en-US" sz="1050" dirty="0"/>
          </a:p>
        </p:txBody>
      </p:sp>
      <p:sp>
        <p:nvSpPr>
          <p:cNvPr id="11" name="Party Finder card"/>
          <p:cNvSpPr/>
          <p:nvPr/>
        </p:nvSpPr>
        <p:spPr>
          <a:xfrm>
            <a:off x="3291840" y="1280160"/>
            <a:ext cx="2651760" cy="3383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icon square"/>
          <p:cNvSpPr/>
          <p:nvPr/>
        </p:nvSpPr>
        <p:spPr>
          <a:xfrm>
            <a:off x="3429000" y="141732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user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491" y="1501811"/>
            <a:ext cx="215067" cy="215067"/>
          </a:xfrm>
          <a:prstGeom prst="rect">
            <a:avLst/>
          </a:prstGeom>
        </p:spPr>
      </p:pic>
      <p:sp>
        <p:nvSpPr>
          <p:cNvPr id="14" name="Party Finder name"/>
          <p:cNvSpPr txBox="1"/>
          <p:nvPr/>
        </p:nvSpPr>
        <p:spPr>
          <a:xfrm>
            <a:off x="3931920" y="138988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Party Finder</a:t>
            </a:r>
            <a:endParaRPr lang="en-US" sz="1400" dirty="0"/>
          </a:p>
        </p:txBody>
      </p:sp>
      <p:sp>
        <p:nvSpPr>
          <p:cNvPr id="15" name="Party Finder what"/>
          <p:cNvSpPr txBox="1"/>
          <p:nvPr/>
        </p:nvSpPr>
        <p:spPr>
          <a:xfrm>
            <a:off x="3429000" y="196596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Reads the complaint, deal documents or engagement request and lists every name to search, each tied to the sentence it came from.</a:t>
            </a:r>
            <a:endParaRPr lang="en-US" sz="1150" dirty="0"/>
          </a:p>
        </p:txBody>
      </p:sp>
      <p:sp>
        <p:nvSpPr>
          <p:cNvPr id="16" name="Party Finder helps"/>
          <p:cNvSpPr txBox="1"/>
          <p:nvPr/>
        </p:nvSpPr>
        <p:spPr>
          <a:xfrm>
            <a:off x="3429000" y="31546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Helps: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Intake and conflicts staff. Nothing missed that an intake form would not catch.</a:t>
            </a:r>
            <a:endParaRPr lang="en-US" sz="1050" dirty="0"/>
          </a:p>
        </p:txBody>
      </p:sp>
      <p:sp>
        <p:nvSpPr>
          <p:cNvPr id="17" name="Party Finder needs"/>
          <p:cNvSpPr txBox="1"/>
          <p:nvPr/>
        </p:nvSpPr>
        <p:spPr>
          <a:xfrm>
            <a:off x="3429000" y="3931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To run it here: </a:t>
            </a:r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The documents. Our conflicts system stays the system of record.</a:t>
            </a:r>
            <a:endParaRPr lang="en-US" sz="1050" dirty="0"/>
          </a:p>
        </p:txBody>
      </p:sp>
      <p:sp>
        <p:nvSpPr>
          <p:cNvPr id="18" name="Marketing Studio card"/>
          <p:cNvSpPr/>
          <p:nvPr/>
        </p:nvSpPr>
        <p:spPr>
          <a:xfrm>
            <a:off x="6126480" y="1280160"/>
            <a:ext cx="2651760" cy="3383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icon square"/>
          <p:cNvSpPr/>
          <p:nvPr/>
        </p:nvSpPr>
        <p:spPr>
          <a:xfrm>
            <a:off x="6263640" y="141732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edit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131" y="1501811"/>
            <a:ext cx="215067" cy="215067"/>
          </a:xfrm>
          <a:prstGeom prst="rect">
            <a:avLst/>
          </a:prstGeom>
        </p:spPr>
      </p:pic>
      <p:sp>
        <p:nvSpPr>
          <p:cNvPr id="21" name="Marketing Studio name"/>
          <p:cNvSpPr txBox="1"/>
          <p:nvPr/>
        </p:nvSpPr>
        <p:spPr>
          <a:xfrm>
            <a:off x="6766560" y="138988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Marketing Studio</a:t>
            </a:r>
            <a:endParaRPr lang="en-US" sz="1400" dirty="0"/>
          </a:p>
        </p:txBody>
      </p:sp>
      <p:sp>
        <p:nvSpPr>
          <p:cNvPr id="22" name="Marketing Studio what"/>
          <p:cNvSpPr txBox="1"/>
          <p:nvPr/>
        </p:nvSpPr>
        <p:spPr>
          <a:xfrm>
            <a:off x="6263640" y="196596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Drafts attorney bios, client alerts, RFP responses and award submissions in the firm's voice, then checks each draft against its source and the advertising rules.</a:t>
            </a:r>
            <a:endParaRPr lang="en-US" sz="1150" dirty="0"/>
          </a:p>
        </p:txBody>
      </p:sp>
      <p:sp>
        <p:nvSpPr>
          <p:cNvPr id="23" name="Marketing Studio helps"/>
          <p:cNvSpPr txBox="1"/>
          <p:nvPr/>
        </p:nvSpPr>
        <p:spPr>
          <a:xfrm>
            <a:off x="6263640" y="31546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Helps: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Marketing and the attorneys they chase for drafts. First drafts in minutes, nothing invented.</a:t>
            </a:r>
            <a:endParaRPr lang="en-US" sz="1050" dirty="0"/>
          </a:p>
        </p:txBody>
      </p:sp>
      <p:sp>
        <p:nvSpPr>
          <p:cNvPr id="24" name="Marketing Studio needs"/>
          <p:cNvSpPr txBox="1"/>
          <p:nvPr/>
        </p:nvSpPr>
        <p:spPr>
          <a:xfrm>
            <a:off x="6263640" y="3931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To run it here: </a:t>
            </a:r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The source material and the firm's style examples.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D4459"/>
                </a:solidFill>
              </a:rPr>
              <a:t>Three bigger ideas, built on what the firm already knows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Directions I find promising. They would need leadership to shape them, and IT to vet them.</a:t>
            </a:r>
            <a:endParaRPr lang="en-US" sz="1300" dirty="0"/>
          </a:p>
        </p:txBody>
      </p:sp>
      <p:sp>
        <p:nvSpPr>
          <p:cNvPr id="4" name="Client risk radar card"/>
          <p:cNvSpPr/>
          <p:nvPr/>
        </p:nvSpPr>
        <p:spPr>
          <a:xfrm>
            <a:off x="457200" y="1325880"/>
            <a:ext cx="2651760" cy="2743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con square"/>
          <p:cNvSpPr/>
          <p:nvPr/>
        </p:nvSpPr>
        <p:spPr>
          <a:xfrm>
            <a:off x="594360" y="146304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radio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851" y="1547531"/>
            <a:ext cx="215067" cy="215067"/>
          </a:xfrm>
          <a:prstGeom prst="rect">
            <a:avLst/>
          </a:prstGeom>
        </p:spPr>
      </p:pic>
      <p:sp>
        <p:nvSpPr>
          <p:cNvPr id="7" name="Client risk radar name"/>
          <p:cNvSpPr txBox="1"/>
          <p:nvPr/>
        </p:nvSpPr>
        <p:spPr>
          <a:xfrm>
            <a:off x="1097280" y="143560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Client risk radar</a:t>
            </a:r>
            <a:endParaRPr lang="en-US" sz="1400" dirty="0"/>
          </a:p>
        </p:txBody>
      </p:sp>
      <p:sp>
        <p:nvSpPr>
          <p:cNvPr id="8" name="Client risk radar what"/>
          <p:cNvSpPr txBox="1"/>
          <p:nvPr/>
        </p:nvSpPr>
        <p:spPr>
          <a:xfrm>
            <a:off x="594360" y="20116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Watches public signals about our clients, such as lawsuits, inspection citations and agency audits.</a:t>
            </a:r>
            <a:endParaRPr lang="en-US" sz="1250" dirty="0"/>
          </a:p>
        </p:txBody>
      </p:sp>
      <p:sp>
        <p:nvSpPr>
          <p:cNvPr id="9" name="Client risk radar why"/>
          <p:cNvSpPr txBox="1"/>
          <p:nvPr/>
        </p:nvSpPr>
        <p:spPr>
          <a:xfrm>
            <a:off x="59436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Why it matters: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 call the client before they know they need help. VigilMark already does this for trademarks.</a:t>
            </a:r>
            <a:endParaRPr lang="en-US" sz="1200" dirty="0"/>
          </a:p>
        </p:txBody>
      </p:sp>
      <p:sp>
        <p:nvSpPr>
          <p:cNvPr id="10" name="Firm knowledge engine card"/>
          <p:cNvSpPr/>
          <p:nvPr/>
        </p:nvSpPr>
        <p:spPr>
          <a:xfrm>
            <a:off x="3291840" y="1325880"/>
            <a:ext cx="2651760" cy="2743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 square"/>
          <p:cNvSpPr/>
          <p:nvPr/>
        </p:nvSpPr>
        <p:spPr>
          <a:xfrm>
            <a:off x="3429000" y="146304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search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491" y="1547531"/>
            <a:ext cx="215067" cy="215067"/>
          </a:xfrm>
          <a:prstGeom prst="rect">
            <a:avLst/>
          </a:prstGeom>
        </p:spPr>
      </p:pic>
      <p:sp>
        <p:nvSpPr>
          <p:cNvPr id="13" name="Firm knowledge engine name"/>
          <p:cNvSpPr txBox="1"/>
          <p:nvPr/>
        </p:nvSpPr>
        <p:spPr>
          <a:xfrm>
            <a:off x="3931920" y="143560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Firm knowledge engine</a:t>
            </a:r>
            <a:endParaRPr lang="en-US" sz="1400" dirty="0"/>
          </a:p>
        </p:txBody>
      </p:sp>
      <p:sp>
        <p:nvSpPr>
          <p:cNvPr id="14" name="Firm knowledge engine what"/>
          <p:cNvSpPr txBox="1"/>
          <p:nvPr/>
        </p:nvSpPr>
        <p:spPr>
          <a:xfrm>
            <a:off x="3429000" y="20116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Ask "who here has handled this?" or "how did we argue this before?" and get an answer from our own files.</a:t>
            </a:r>
            <a:endParaRPr lang="en-US" sz="1250" dirty="0"/>
          </a:p>
        </p:txBody>
      </p:sp>
      <p:sp>
        <p:nvSpPr>
          <p:cNvPr id="15" name="Firm knowledge engine why"/>
          <p:cNvSpPr txBox="1"/>
          <p:nvPr/>
        </p:nvSpPr>
        <p:spPr>
          <a:xfrm>
            <a:off x="342900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Why it matters: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Keeps expertise when senior partners retire. LexAtlas and Skippy are the pieces.</a:t>
            </a:r>
            <a:endParaRPr lang="en-US" sz="1200" dirty="0"/>
          </a:p>
        </p:txBody>
      </p:sp>
      <p:sp>
        <p:nvSpPr>
          <p:cNvPr id="16" name="Ask the matter card"/>
          <p:cNvSpPr/>
          <p:nvPr/>
        </p:nvSpPr>
        <p:spPr>
          <a:xfrm>
            <a:off x="6126480" y="1325880"/>
            <a:ext cx="2651760" cy="2743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icon square"/>
          <p:cNvSpPr/>
          <p:nvPr/>
        </p:nvSpPr>
        <p:spPr>
          <a:xfrm>
            <a:off x="6263640" y="146304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msg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131" y="1547531"/>
            <a:ext cx="215067" cy="215067"/>
          </a:xfrm>
          <a:prstGeom prst="rect">
            <a:avLst/>
          </a:prstGeom>
        </p:spPr>
      </p:pic>
      <p:sp>
        <p:nvSpPr>
          <p:cNvPr id="19" name="Ask the matter name"/>
          <p:cNvSpPr txBox="1"/>
          <p:nvPr/>
        </p:nvSpPr>
        <p:spPr>
          <a:xfrm>
            <a:off x="6766560" y="143560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Ask the matter</a:t>
            </a:r>
            <a:endParaRPr lang="en-US" sz="1400" dirty="0"/>
          </a:p>
        </p:txBody>
      </p:sp>
      <p:sp>
        <p:nvSpPr>
          <p:cNvPr id="20" name="Ask the matter what"/>
          <p:cNvSpPr txBox="1"/>
          <p:nvPr/>
        </p:nvSpPr>
        <p:spPr>
          <a:xfrm>
            <a:off x="6263640" y="20116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Questions over one matter's files, every answer cited to the page.</a:t>
            </a:r>
            <a:endParaRPr lang="en-US" sz="1250" dirty="0"/>
          </a:p>
        </p:txBody>
      </p:sp>
      <p:sp>
        <p:nvSpPr>
          <p:cNvPr id="21" name="Ask the matter why"/>
          <p:cNvSpPr txBox="1"/>
          <p:nvPr/>
        </p:nvSpPr>
        <p:spPr>
          <a:xfrm>
            <a:off x="62636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Why it matters: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contained first step toward the knowledge engine. Skippy does this today, one matter at a time.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D4459"/>
                </a:solidFill>
              </a:rPr>
              <a:t>My filter: configure first, buy second, build last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 lens I have found useful, offered for discussion.</a:t>
            </a:r>
            <a:endParaRPr lang="en-US" sz="1300" dirty="0"/>
          </a:p>
        </p:txBody>
      </p:sp>
      <p:sp>
        <p:nvSpPr>
          <p:cNvPr id="4" name="questions heading"/>
          <p:cNvSpPr txBox="1"/>
          <p:nvPr/>
        </p:nvSpPr>
        <p:spPr>
          <a:xfrm>
            <a:off x="457200" y="1280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Five questions I ask of an idea</a:t>
            </a:r>
            <a:endParaRPr lang="en-US" sz="1300" dirty="0"/>
          </a:p>
        </p:txBody>
      </p:sp>
      <p:sp>
        <p:nvSpPr>
          <p:cNvPr id="5" name="number 1"/>
          <p:cNvSpPr/>
          <p:nvPr/>
        </p:nvSpPr>
        <p:spPr>
          <a:xfrm>
            <a:off x="457200" y="1664208"/>
            <a:ext cx="329184" cy="32918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number text 1"/>
          <p:cNvSpPr txBox="1"/>
          <p:nvPr/>
        </p:nvSpPr>
        <p:spPr>
          <a:xfrm>
            <a:off x="457200" y="1664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question 1"/>
          <p:cNvSpPr txBox="1"/>
          <p:nvPr/>
        </p:nvSpPr>
        <p:spPr>
          <a:xfrm>
            <a:off x="914400" y="16276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Impact against effort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Who benefits, and how much work it takes.</a:t>
            </a:r>
            <a:endParaRPr lang="en-US" sz="1200" dirty="0"/>
          </a:p>
        </p:txBody>
      </p:sp>
      <p:sp>
        <p:nvSpPr>
          <p:cNvPr id="8" name="number 2"/>
          <p:cNvSpPr/>
          <p:nvPr/>
        </p:nvSpPr>
        <p:spPr>
          <a:xfrm>
            <a:off x="457200" y="2231136"/>
            <a:ext cx="329184" cy="32918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number text 2"/>
          <p:cNvSpPr txBox="1"/>
          <p:nvPr/>
        </p:nvSpPr>
        <p:spPr>
          <a:xfrm>
            <a:off x="457200" y="2231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question 2"/>
          <p:cNvSpPr txBox="1"/>
          <p:nvPr/>
        </p:nvSpPr>
        <p:spPr>
          <a:xfrm>
            <a:off x="91440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Data readiness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Is the data clean, in one place, and allowed?</a:t>
            </a:r>
            <a:endParaRPr lang="en-US" sz="1200" dirty="0"/>
          </a:p>
        </p:txBody>
      </p:sp>
      <p:sp>
        <p:nvSpPr>
          <p:cNvPr id="11" name="number 3"/>
          <p:cNvSpPr/>
          <p:nvPr/>
        </p:nvSpPr>
        <p:spPr>
          <a:xfrm>
            <a:off x="457200" y="2798064"/>
            <a:ext cx="329184" cy="32918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number text 3"/>
          <p:cNvSpPr txBox="1"/>
          <p:nvPr/>
        </p:nvSpPr>
        <p:spPr>
          <a:xfrm>
            <a:off x="457200" y="2798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question 3"/>
          <p:cNvSpPr txBox="1"/>
          <p:nvPr/>
        </p:nvSpPr>
        <p:spPr>
          <a:xfrm>
            <a:off x="914400" y="276148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Risk and confidentiality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Do walls, permissions and client instructions hold?</a:t>
            </a:r>
            <a:endParaRPr lang="en-US" sz="1200" dirty="0"/>
          </a:p>
        </p:txBody>
      </p:sp>
      <p:sp>
        <p:nvSpPr>
          <p:cNvPr id="14" name="number 4"/>
          <p:cNvSpPr/>
          <p:nvPr/>
        </p:nvSpPr>
        <p:spPr>
          <a:xfrm>
            <a:off x="457200" y="3364992"/>
            <a:ext cx="329184" cy="32918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number text 4"/>
          <p:cNvSpPr txBox="1"/>
          <p:nvPr/>
        </p:nvSpPr>
        <p:spPr>
          <a:xfrm>
            <a:off x="457200" y="3364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question 4"/>
          <p:cNvSpPr txBox="1"/>
          <p:nvPr/>
        </p:nvSpPr>
        <p:spPr>
          <a:xfrm>
            <a:off x="914400" y="332841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Adoption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Does it fit how people already work?</a:t>
            </a:r>
            <a:endParaRPr lang="en-US" sz="1200" dirty="0"/>
          </a:p>
        </p:txBody>
      </p:sp>
      <p:sp>
        <p:nvSpPr>
          <p:cNvPr id="17" name="number 5"/>
          <p:cNvSpPr/>
          <p:nvPr/>
        </p:nvSpPr>
        <p:spPr>
          <a:xfrm>
            <a:off x="457200" y="3931920"/>
            <a:ext cx="329184" cy="32918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number text 5"/>
          <p:cNvSpPr txBox="1"/>
          <p:nvPr/>
        </p:nvSpPr>
        <p:spPr>
          <a:xfrm>
            <a:off x="457200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9" name="question 5"/>
          <p:cNvSpPr txBox="1"/>
          <p:nvPr/>
        </p:nvSpPr>
        <p:spPr>
          <a:xfrm>
            <a:off x="914400" y="389534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Supportability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Who maintains it?</a:t>
            </a:r>
            <a:endParaRPr lang="en-US" sz="1200" dirty="0"/>
          </a:p>
        </p:txBody>
      </p:sp>
      <p:sp>
        <p:nvSpPr>
          <p:cNvPr id="20" name="order heading"/>
          <p:cNvSpPr txBox="1"/>
          <p:nvPr/>
        </p:nvSpPr>
        <p:spPr>
          <a:xfrm>
            <a:off x="502920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The order I would lean toward</a:t>
            </a:r>
            <a:endParaRPr lang="en-US" sz="1300" dirty="0"/>
          </a:p>
        </p:txBody>
      </p:sp>
      <p:sp>
        <p:nvSpPr>
          <p:cNvPr id="21" name="Configure first card"/>
          <p:cNvSpPr/>
          <p:nvPr/>
        </p:nvSpPr>
        <p:spPr>
          <a:xfrm>
            <a:off x="5029200" y="1645920"/>
            <a:ext cx="3657600" cy="676656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icon square"/>
          <p:cNvSpPr/>
          <p:nvPr/>
        </p:nvSpPr>
        <p:spPr>
          <a:xfrm>
            <a:off x="5138928" y="1792224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setting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3419" y="1876715"/>
            <a:ext cx="215067" cy="215067"/>
          </a:xfrm>
          <a:prstGeom prst="rect">
            <a:avLst/>
          </a:prstGeom>
        </p:spPr>
      </p:pic>
      <p:sp>
        <p:nvSpPr>
          <p:cNvPr id="24" name="Configure first text"/>
          <p:cNvSpPr txBox="1"/>
          <p:nvPr/>
        </p:nvSpPr>
        <p:spPr>
          <a:xfrm>
            <a:off x="5623560" y="1700784"/>
            <a:ext cx="2971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Configure first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Get more from Copilot and the document system.</a:t>
            </a:r>
            <a:endParaRPr lang="en-US" sz="1200" dirty="0"/>
          </a:p>
        </p:txBody>
      </p:sp>
      <p:sp>
        <p:nvSpPr>
          <p:cNvPr id="25" name="Buy second card"/>
          <p:cNvSpPr/>
          <p:nvPr/>
        </p:nvSpPr>
        <p:spPr>
          <a:xfrm>
            <a:off x="5029200" y="2432304"/>
            <a:ext cx="3657600" cy="676656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icon square"/>
          <p:cNvSpPr/>
          <p:nvPr/>
        </p:nvSpPr>
        <p:spPr>
          <a:xfrm>
            <a:off x="5138928" y="2578608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car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3419" y="2663099"/>
            <a:ext cx="215067" cy="215067"/>
          </a:xfrm>
          <a:prstGeom prst="rect">
            <a:avLst/>
          </a:prstGeom>
        </p:spPr>
      </p:pic>
      <p:sp>
        <p:nvSpPr>
          <p:cNvPr id="28" name="Buy second text"/>
          <p:cNvSpPr txBox="1"/>
          <p:nvPr/>
        </p:nvSpPr>
        <p:spPr>
          <a:xfrm>
            <a:off x="5623560" y="2487168"/>
            <a:ext cx="2971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Buy second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Where the market is mature and vendors pass vetting.</a:t>
            </a:r>
            <a:endParaRPr lang="en-US" sz="1200" dirty="0"/>
          </a:p>
        </p:txBody>
      </p:sp>
      <p:sp>
        <p:nvSpPr>
          <p:cNvPr id="29" name="Build last card"/>
          <p:cNvSpPr/>
          <p:nvPr/>
        </p:nvSpPr>
        <p:spPr>
          <a:xfrm>
            <a:off x="5029200" y="3218688"/>
            <a:ext cx="3657600" cy="676656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icon square"/>
          <p:cNvSpPr/>
          <p:nvPr/>
        </p:nvSpPr>
        <p:spPr>
          <a:xfrm>
            <a:off x="5138928" y="3364992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tool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3419" y="3449483"/>
            <a:ext cx="215067" cy="215067"/>
          </a:xfrm>
          <a:prstGeom prst="rect">
            <a:avLst/>
          </a:prstGeom>
        </p:spPr>
      </p:pic>
      <p:sp>
        <p:nvSpPr>
          <p:cNvPr id="32" name="Build last text"/>
          <p:cNvSpPr txBox="1"/>
          <p:nvPr/>
        </p:nvSpPr>
        <p:spPr>
          <a:xfrm>
            <a:off x="5623560" y="3273552"/>
            <a:ext cx="2971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Build last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Only where our own data is the advantage.</a:t>
            </a:r>
            <a:endParaRPr lang="en-US" sz="1200" dirty="0"/>
          </a:p>
        </p:txBody>
      </p:sp>
      <p:sp>
        <p:nvSpPr>
          <p:cNvPr id="33" name="what IT keeps card"/>
          <p:cNvSpPr/>
          <p:nvPr/>
        </p:nvSpPr>
        <p:spPr>
          <a:xfrm>
            <a:off x="5029200" y="4041648"/>
            <a:ext cx="3657600" cy="713232"/>
          </a:xfrm>
          <a:prstGeom prst="rect">
            <a:avLst/>
          </a:prstGeom>
          <a:solidFill>
            <a:srgbClr val="2D4459"/>
          </a:solidFill>
          <a:ln w="12700">
            <a:solidFill>
              <a:srgbClr val="2D4459"/>
            </a:solidFill>
            <a:prstDash val="solid"/>
          </a:ln>
        </p:spPr>
      </p:sp>
      <p:sp>
        <p:nvSpPr>
          <p:cNvPr id="34" name="what IT keeps text"/>
          <p:cNvSpPr txBox="1"/>
          <p:nvPr/>
        </p:nvSpPr>
        <p:spPr>
          <a:xfrm>
            <a:off x="5166360" y="407822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Every one of these goes through IT review first: </a:t>
            </a:r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where it runs, who can see what, and what is logged.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A rollout takes about two weeks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One example, the client guidelines brief, as I picture it. Nothing new to host.</a:t>
            </a:r>
            <a:endParaRPr lang="en-US" sz="1300" dirty="0"/>
          </a:p>
        </p:txBody>
      </p:sp>
      <p:sp>
        <p:nvSpPr>
          <p:cNvPr id="4" name="step 1 card"/>
          <p:cNvSpPr/>
          <p:nvPr/>
        </p:nvSpPr>
        <p:spPr>
          <a:xfrm>
            <a:off x="457200" y="1280160"/>
            <a:ext cx="1572768" cy="1920240"/>
          </a:xfrm>
          <a:prstGeom prst="rect">
            <a:avLst/>
          </a:prstGeom>
          <a:solidFill>
            <a:srgbClr val="3A5368"/>
          </a:solidFill>
          <a:ln w="12700">
            <a:solidFill>
              <a:srgbClr val="3A5368"/>
            </a:solidFill>
            <a:prstDash val="solid"/>
          </a:ln>
        </p:spPr>
      </p:sp>
      <p:sp>
        <p:nvSpPr>
          <p:cNvPr id="5" name="step number 1"/>
          <p:cNvSpPr/>
          <p:nvPr/>
        </p:nvSpPr>
        <p:spPr>
          <a:xfrm>
            <a:off x="566928" y="1389888"/>
            <a:ext cx="310896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tep number text 1"/>
          <p:cNvSpPr txBox="1"/>
          <p:nvPr/>
        </p:nvSpPr>
        <p:spPr>
          <a:xfrm>
            <a:off x="566928" y="1389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step title 1"/>
          <p:cNvSpPr txBox="1"/>
          <p:nvPr/>
        </p:nvSpPr>
        <p:spPr>
          <a:xfrm>
            <a:off x="950976" y="137160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Collect</a:t>
            </a:r>
            <a:endParaRPr lang="en-US" sz="1400" dirty="0"/>
          </a:p>
        </p:txBody>
      </p:sp>
      <p:sp>
        <p:nvSpPr>
          <p:cNvPr id="8" name="step when 1"/>
          <p:cNvSpPr txBox="1"/>
          <p:nvPr/>
        </p:nvSpPr>
        <p:spPr>
          <a:xfrm>
            <a:off x="566928" y="178308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Day 1</a:t>
            </a:r>
            <a:endParaRPr lang="en-US" sz="1000" dirty="0"/>
          </a:p>
        </p:txBody>
      </p:sp>
      <p:sp>
        <p:nvSpPr>
          <p:cNvPr id="9" name="step text 1"/>
          <p:cNvSpPr txBox="1"/>
          <p:nvPr/>
        </p:nvSpPr>
        <p:spPr>
          <a:xfrm>
            <a:off x="566928" y="2011680"/>
            <a:ext cx="1353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The client guidelines are already in the document system.</a:t>
            </a:r>
            <a:endParaRPr lang="en-US" sz="1050" dirty="0"/>
          </a:p>
        </p:txBody>
      </p:sp>
      <p:pic>
        <p:nvPicPr>
          <p:cNvPr id="10" name="step arrow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3392" y="2148840"/>
            <a:ext cx="182880" cy="182880"/>
          </a:xfrm>
          <a:prstGeom prst="rect">
            <a:avLst/>
          </a:prstGeom>
        </p:spPr>
      </p:pic>
      <p:sp>
        <p:nvSpPr>
          <p:cNvPr id="11" name="step 2 card"/>
          <p:cNvSpPr/>
          <p:nvPr/>
        </p:nvSpPr>
        <p:spPr>
          <a:xfrm>
            <a:off x="2139696" y="1280160"/>
            <a:ext cx="1572768" cy="1920240"/>
          </a:xfrm>
          <a:prstGeom prst="rect">
            <a:avLst/>
          </a:prstGeom>
          <a:solidFill>
            <a:srgbClr val="3A5368"/>
          </a:solidFill>
          <a:ln w="12700">
            <a:solidFill>
              <a:srgbClr val="3A5368"/>
            </a:solidFill>
            <a:prstDash val="solid"/>
          </a:ln>
        </p:spPr>
      </p:sp>
      <p:sp>
        <p:nvSpPr>
          <p:cNvPr id="12" name="step number 2"/>
          <p:cNvSpPr/>
          <p:nvPr/>
        </p:nvSpPr>
        <p:spPr>
          <a:xfrm>
            <a:off x="2249424" y="1389888"/>
            <a:ext cx="310896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step number text 2"/>
          <p:cNvSpPr txBox="1"/>
          <p:nvPr/>
        </p:nvSpPr>
        <p:spPr>
          <a:xfrm>
            <a:off x="2249424" y="1389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step title 2"/>
          <p:cNvSpPr txBox="1"/>
          <p:nvPr/>
        </p:nvSpPr>
        <p:spPr>
          <a:xfrm>
            <a:off x="2633472" y="137160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Build</a:t>
            </a:r>
            <a:endParaRPr lang="en-US" sz="1400" dirty="0"/>
          </a:p>
        </p:txBody>
      </p:sp>
      <p:sp>
        <p:nvSpPr>
          <p:cNvPr id="15" name="step when 2"/>
          <p:cNvSpPr txBox="1"/>
          <p:nvPr/>
        </p:nvSpPr>
        <p:spPr>
          <a:xfrm>
            <a:off x="2249424" y="178308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Days 2 to 3</a:t>
            </a:r>
            <a:endParaRPr lang="en-US" sz="1000" dirty="0"/>
          </a:p>
        </p:txBody>
      </p:sp>
      <p:sp>
        <p:nvSpPr>
          <p:cNvPr id="16" name="step text 2"/>
          <p:cNvSpPr txBox="1"/>
          <p:nvPr/>
        </p:nvSpPr>
        <p:spPr>
          <a:xfrm>
            <a:off x="2249424" y="2011680"/>
            <a:ext cx="1353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One page of billing rules per client, each tied to its source paragraph.</a:t>
            </a:r>
            <a:endParaRPr lang="en-US" sz="1050" dirty="0"/>
          </a:p>
        </p:txBody>
      </p:sp>
      <p:pic>
        <p:nvPicPr>
          <p:cNvPr id="17" name="step arrow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2148840"/>
            <a:ext cx="182880" cy="182880"/>
          </a:xfrm>
          <a:prstGeom prst="rect">
            <a:avLst/>
          </a:prstGeom>
        </p:spPr>
      </p:pic>
      <p:sp>
        <p:nvSpPr>
          <p:cNvPr id="18" name="step 3 card"/>
          <p:cNvSpPr/>
          <p:nvPr/>
        </p:nvSpPr>
        <p:spPr>
          <a:xfrm>
            <a:off x="3822192" y="1280160"/>
            <a:ext cx="1572768" cy="1920240"/>
          </a:xfrm>
          <a:prstGeom prst="rect">
            <a:avLst/>
          </a:prstGeom>
          <a:solidFill>
            <a:srgbClr val="3A5368"/>
          </a:solidFill>
          <a:ln w="12700">
            <a:solidFill>
              <a:srgbClr val="3A5368"/>
            </a:solidFill>
            <a:prstDash val="solid"/>
          </a:ln>
        </p:spPr>
      </p:sp>
      <p:sp>
        <p:nvSpPr>
          <p:cNvPr id="19" name="step number 3"/>
          <p:cNvSpPr/>
          <p:nvPr/>
        </p:nvSpPr>
        <p:spPr>
          <a:xfrm>
            <a:off x="3931920" y="1389888"/>
            <a:ext cx="310896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step number text 3"/>
          <p:cNvSpPr txBox="1"/>
          <p:nvPr/>
        </p:nvSpPr>
        <p:spPr>
          <a:xfrm>
            <a:off x="3931920" y="1389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1" name="step title 3"/>
          <p:cNvSpPr txBox="1"/>
          <p:nvPr/>
        </p:nvSpPr>
        <p:spPr>
          <a:xfrm>
            <a:off x="4315968" y="137160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IT review</a:t>
            </a:r>
            <a:endParaRPr lang="en-US" sz="1400" dirty="0"/>
          </a:p>
        </p:txBody>
      </p:sp>
      <p:sp>
        <p:nvSpPr>
          <p:cNvPr id="22" name="step when 3"/>
          <p:cNvSpPr txBox="1"/>
          <p:nvPr/>
        </p:nvSpPr>
        <p:spPr>
          <a:xfrm>
            <a:off x="3931920" y="178308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Day 4</a:t>
            </a:r>
            <a:endParaRPr lang="en-US" sz="1000" dirty="0"/>
          </a:p>
        </p:txBody>
      </p:sp>
      <p:sp>
        <p:nvSpPr>
          <p:cNvPr id="23" name="step text 3"/>
          <p:cNvSpPr txBox="1"/>
          <p:nvPr/>
        </p:nvSpPr>
        <p:spPr>
          <a:xfrm>
            <a:off x="3931920" y="2011680"/>
            <a:ext cx="1353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Runs on firm hardware. Sign-on, roles and audit log shown in one sitting.</a:t>
            </a:r>
            <a:endParaRPr lang="en-US" sz="1050" dirty="0"/>
          </a:p>
        </p:txBody>
      </p:sp>
      <p:pic>
        <p:nvPicPr>
          <p:cNvPr id="24" name="step arrow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8384" y="2148840"/>
            <a:ext cx="182880" cy="182880"/>
          </a:xfrm>
          <a:prstGeom prst="rect">
            <a:avLst/>
          </a:prstGeom>
        </p:spPr>
      </p:pic>
      <p:sp>
        <p:nvSpPr>
          <p:cNvPr id="25" name="step 4 card"/>
          <p:cNvSpPr/>
          <p:nvPr/>
        </p:nvSpPr>
        <p:spPr>
          <a:xfrm>
            <a:off x="5504688" y="1280160"/>
            <a:ext cx="1572768" cy="1920240"/>
          </a:xfrm>
          <a:prstGeom prst="rect">
            <a:avLst/>
          </a:prstGeom>
          <a:solidFill>
            <a:srgbClr val="3A5368"/>
          </a:solidFill>
          <a:ln w="12700">
            <a:solidFill>
              <a:srgbClr val="3A5368"/>
            </a:solidFill>
            <a:prstDash val="solid"/>
          </a:ln>
        </p:spPr>
      </p:sp>
      <p:sp>
        <p:nvSpPr>
          <p:cNvPr id="26" name="step number 4"/>
          <p:cNvSpPr/>
          <p:nvPr/>
        </p:nvSpPr>
        <p:spPr>
          <a:xfrm>
            <a:off x="5614416" y="1389888"/>
            <a:ext cx="310896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step number text 4"/>
          <p:cNvSpPr txBox="1"/>
          <p:nvPr/>
        </p:nvSpPr>
        <p:spPr>
          <a:xfrm>
            <a:off x="5614416" y="1389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step title 4"/>
          <p:cNvSpPr txBox="1"/>
          <p:nvPr/>
        </p:nvSpPr>
        <p:spPr>
          <a:xfrm>
            <a:off x="5998464" y="137160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Pilot</a:t>
            </a:r>
            <a:endParaRPr lang="en-US" sz="1400" dirty="0"/>
          </a:p>
        </p:txBody>
      </p:sp>
      <p:sp>
        <p:nvSpPr>
          <p:cNvPr id="29" name="step when 4"/>
          <p:cNvSpPr txBox="1"/>
          <p:nvPr/>
        </p:nvSpPr>
        <p:spPr>
          <a:xfrm>
            <a:off x="5614416" y="178308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Week 2</a:t>
            </a:r>
            <a:endParaRPr lang="en-US" sz="1000" dirty="0"/>
          </a:p>
        </p:txBody>
      </p:sp>
      <p:sp>
        <p:nvSpPr>
          <p:cNvPr id="30" name="step text 4"/>
          <p:cNvSpPr txBox="1"/>
          <p:nvPr/>
        </p:nvSpPr>
        <p:spPr>
          <a:xfrm>
            <a:off x="5614416" y="2011680"/>
            <a:ext cx="1353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One billing partner, one client's prebills. A person decides every change.</a:t>
            </a:r>
            <a:endParaRPr lang="en-US" sz="1050" dirty="0"/>
          </a:p>
        </p:txBody>
      </p:sp>
      <p:pic>
        <p:nvPicPr>
          <p:cNvPr id="31" name="step arrow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2148840"/>
            <a:ext cx="182880" cy="182880"/>
          </a:xfrm>
          <a:prstGeom prst="rect">
            <a:avLst/>
          </a:prstGeom>
        </p:spPr>
      </p:pic>
      <p:sp>
        <p:nvSpPr>
          <p:cNvPr id="32" name="step 5 card"/>
          <p:cNvSpPr/>
          <p:nvPr/>
        </p:nvSpPr>
        <p:spPr>
          <a:xfrm>
            <a:off x="7187184" y="1280160"/>
            <a:ext cx="1572768" cy="1920240"/>
          </a:xfrm>
          <a:prstGeom prst="rect">
            <a:avLst/>
          </a:prstGeom>
          <a:solidFill>
            <a:srgbClr val="3A5368"/>
          </a:solidFill>
          <a:ln w="12700">
            <a:solidFill>
              <a:srgbClr val="3A5368"/>
            </a:solidFill>
            <a:prstDash val="solid"/>
          </a:ln>
        </p:spPr>
      </p:sp>
      <p:sp>
        <p:nvSpPr>
          <p:cNvPr id="33" name="step number 5"/>
          <p:cNvSpPr/>
          <p:nvPr/>
        </p:nvSpPr>
        <p:spPr>
          <a:xfrm>
            <a:off x="7296912" y="1389888"/>
            <a:ext cx="310896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step number text 5"/>
          <p:cNvSpPr txBox="1"/>
          <p:nvPr/>
        </p:nvSpPr>
        <p:spPr>
          <a:xfrm>
            <a:off x="7296912" y="1389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itle 5"/>
          <p:cNvSpPr txBox="1"/>
          <p:nvPr/>
        </p:nvSpPr>
        <p:spPr>
          <a:xfrm>
            <a:off x="7680960" y="137160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In use</a:t>
            </a:r>
            <a:endParaRPr lang="en-US" sz="1400" dirty="0"/>
          </a:p>
        </p:txBody>
      </p:sp>
      <p:sp>
        <p:nvSpPr>
          <p:cNvPr id="36" name="step when 5"/>
          <p:cNvSpPr txBox="1"/>
          <p:nvPr/>
        </p:nvSpPr>
        <p:spPr>
          <a:xfrm>
            <a:off x="7296912" y="178308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Week 3 on</a:t>
            </a:r>
            <a:endParaRPr lang="en-US" sz="1000" dirty="0"/>
          </a:p>
        </p:txBody>
      </p:sp>
      <p:sp>
        <p:nvSpPr>
          <p:cNvPr id="37" name="step text 5"/>
          <p:cNvSpPr txBox="1"/>
          <p:nvPr/>
        </p:nvSpPr>
        <p:spPr>
          <a:xfrm>
            <a:off x="7296912" y="2011680"/>
            <a:ext cx="1353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Flags appear in the prebill review that already happens.</a:t>
            </a:r>
            <a:endParaRPr lang="en-US" sz="1050" dirty="0"/>
          </a:p>
        </p:txBody>
      </p:sp>
      <p:sp>
        <p:nvSpPr>
          <p:cNvPr id="38" name="why easy heading"/>
          <p:cNvSpPr txBox="1"/>
          <p:nvPr/>
        </p:nvSpPr>
        <p:spPr>
          <a:xfrm>
            <a:off x="457200" y="33101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Why I would pick it:</a:t>
            </a:r>
            <a:endParaRPr lang="en-US" sz="1100" dirty="0"/>
          </a:p>
        </p:txBody>
      </p:sp>
      <p:sp>
        <p:nvSpPr>
          <p:cNvPr id="39" name="icon square"/>
          <p:cNvSpPr/>
          <p:nvPr/>
        </p:nvSpPr>
        <p:spPr>
          <a:xfrm>
            <a:off x="2011680" y="3328416"/>
            <a:ext cx="256032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0" name="list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8007" y="3384743"/>
            <a:ext cx="143378" cy="143378"/>
          </a:xfrm>
          <a:prstGeom prst="rect">
            <a:avLst/>
          </a:prstGeom>
        </p:spPr>
      </p:pic>
      <p:sp>
        <p:nvSpPr>
          <p:cNvPr id="41" name="easy 1"/>
          <p:cNvSpPr txBox="1"/>
          <p:nvPr/>
        </p:nvSpPr>
        <p:spPr>
          <a:xfrm>
            <a:off x="2322576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Inputs already exist</a:t>
            </a:r>
            <a:endParaRPr lang="en-US" sz="1050" dirty="0"/>
          </a:p>
        </p:txBody>
      </p:sp>
      <p:sp>
        <p:nvSpPr>
          <p:cNvPr id="42" name="icon square"/>
          <p:cNvSpPr/>
          <p:nvPr/>
        </p:nvSpPr>
        <p:spPr>
          <a:xfrm>
            <a:off x="3703320" y="3328416"/>
            <a:ext cx="256032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3" name="check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9647" y="3384743"/>
            <a:ext cx="143378" cy="143378"/>
          </a:xfrm>
          <a:prstGeom prst="rect">
            <a:avLst/>
          </a:prstGeom>
        </p:spPr>
      </p:pic>
      <p:sp>
        <p:nvSpPr>
          <p:cNvPr id="44" name="easy 2"/>
          <p:cNvSpPr txBox="1"/>
          <p:nvPr/>
        </p:nvSpPr>
        <p:spPr>
          <a:xfrm>
            <a:off x="4014216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A person reviews it</a:t>
            </a:r>
            <a:endParaRPr lang="en-US" sz="1050" dirty="0"/>
          </a:p>
        </p:txBody>
      </p:sp>
      <p:sp>
        <p:nvSpPr>
          <p:cNvPr id="45" name="icon square"/>
          <p:cNvSpPr/>
          <p:nvPr/>
        </p:nvSpPr>
        <p:spPr>
          <a:xfrm>
            <a:off x="5394960" y="3328416"/>
            <a:ext cx="256032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6" name="settings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51287" y="3384743"/>
            <a:ext cx="143378" cy="143378"/>
          </a:xfrm>
          <a:prstGeom prst="rect">
            <a:avLst/>
          </a:prstGeom>
        </p:spPr>
      </p:pic>
      <p:sp>
        <p:nvSpPr>
          <p:cNvPr id="47" name="easy 3"/>
          <p:cNvSpPr txBox="1"/>
          <p:nvPr/>
        </p:nvSpPr>
        <p:spPr>
          <a:xfrm>
            <a:off x="5705856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No new habits</a:t>
            </a:r>
            <a:endParaRPr lang="en-US" sz="1050" dirty="0"/>
          </a:p>
        </p:txBody>
      </p:sp>
      <p:sp>
        <p:nvSpPr>
          <p:cNvPr id="48" name="icon square"/>
          <p:cNvSpPr/>
          <p:nvPr/>
        </p:nvSpPr>
        <p:spPr>
          <a:xfrm>
            <a:off x="7086600" y="3328416"/>
            <a:ext cx="256032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9" name="shield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42927" y="3384743"/>
            <a:ext cx="143378" cy="143378"/>
          </a:xfrm>
          <a:prstGeom prst="rect">
            <a:avLst/>
          </a:prstGeom>
        </p:spPr>
      </p:pic>
      <p:sp>
        <p:nvSpPr>
          <p:cNvPr id="50" name="easy 4"/>
          <p:cNvSpPr txBox="1"/>
          <p:nvPr/>
        </p:nvSpPr>
        <p:spPr>
          <a:xfrm>
            <a:off x="7397496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Easy to stop</a:t>
            </a:r>
            <a:endParaRPr lang="en-US" sz="1050" dirty="0"/>
          </a:p>
        </p:txBody>
      </p:sp>
      <p:sp>
        <p:nvSpPr>
          <p:cNvPr id="51" name="long-term goal card"/>
          <p:cNvSpPr/>
          <p:nvPr/>
        </p:nvSpPr>
        <p:spPr>
          <a:xfrm>
            <a:off x="457200" y="3749040"/>
            <a:ext cx="8229600" cy="10515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2" name="long-term goal heading"/>
          <p:cNvSpPr txBox="1"/>
          <p:nvPr/>
        </p:nvSpPr>
        <p:spPr>
          <a:xfrm>
            <a:off x="640080" y="38130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 longer view, for discussion: one firm-owned platform that touches everything</a:t>
            </a:r>
            <a:endParaRPr lang="en-US" sz="1400" dirty="0"/>
          </a:p>
        </p:txBody>
      </p:sp>
      <p:sp>
        <p:nvSpPr>
          <p:cNvPr id="53" name="long-term goal text"/>
          <p:cNvSpPr txBox="1"/>
          <p:nvPr/>
        </p:nvSpPr>
        <p:spPr>
          <a:xfrm>
            <a:off x="640080" y="411480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Over time, one in-house system could touch every file, matter and system the firm runs, with each tool as a module, one set of permissions, one audit trail, and the firm owning the code and the data. That is leadership's call and a long way off. I raise it so the quick wins can be built to add up to it.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for the firm">
  <a:themeElements>
    <a:clrScheme name="AI for the firm">
      <a:dk1>
        <a:srgbClr val="211E1F"/>
      </a:dk1>
      <a:lt1>
        <a:srgbClr val="FFFFFF"/>
      </a:lt1>
      <a:dk2>
        <a:srgbClr val="5E5E5E"/>
      </a:dk2>
      <a:lt2>
        <a:srgbClr val="F2F2F2"/>
      </a:lt2>
      <a:accent1>
        <a:srgbClr val="436C6D"/>
      </a:accent1>
      <a:accent2>
        <a:srgbClr val="E16E39"/>
      </a:accent2>
      <a:accent3>
        <a:srgbClr val="BFE0D5"/>
      </a:accent3>
      <a:accent4>
        <a:srgbClr val="66938F"/>
      </a:accent4>
      <a:accent5>
        <a:srgbClr val="436C6D"/>
      </a:accent5>
      <a:accent6>
        <a:srgbClr val="BDD7DE"/>
      </a:accent6>
      <a:hlink>
        <a:srgbClr val="436C6D"/>
      </a:hlink>
      <a:folHlink>
        <a:srgbClr val="5E5E5E"/>
      </a:folHlink>
    </a:clrScheme>
    <a:fontScheme name="AI for the firm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I have built and can build with AI</dc:title>
  <dc:subject>PptxGenJS Presentation</dc:subject>
  <dc:creator>Myles Parslow</dc:creator>
  <cp:lastModifiedBy>Myles Parslow</cp:lastModifiedBy>
  <cp:revision>1</cp:revision>
  <dcterms:created xsi:type="dcterms:W3CDTF">2026-10-29T00:12:31Z</dcterms:created>
  <dcterms:modified xsi:type="dcterms:W3CDTF">2026-10-29T00:12:31Z</dcterms:modified>
</cp:coreProperties>
</file>