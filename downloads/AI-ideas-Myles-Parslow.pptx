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I for the firm" id="{2eabaa70-76fe-eeca-849d-0cb12522227b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2D4459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D4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What I have built so far: fifteen working legal tools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Built on my own time with invented clients. Orange marks three that could be used right away.</a:t>
            </a:r>
            <a:endParaRPr lang="en-US" sz="1300" dirty="0"/>
          </a:p>
        </p:txBody>
      </p:sp>
      <p:sp>
        <p:nvSpPr>
          <p:cNvPr id="4" name="Conflicts and intake heading"/>
          <p:cNvSpPr txBox="1"/>
          <p:nvPr/>
        </p:nvSpPr>
        <p:spPr>
          <a:xfrm>
            <a:off x="457200" y="11887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CONFLICTS AND INTAKE</a:t>
            </a:r>
            <a:endParaRPr lang="en-US" sz="900" dirty="0"/>
          </a:p>
        </p:txBody>
      </p:sp>
      <p:sp>
        <p:nvSpPr>
          <p:cNvPr id="5" name="Conflion name"/>
          <p:cNvSpPr txBox="1"/>
          <p:nvPr/>
        </p:nvSpPr>
        <p:spPr>
          <a:xfrm>
            <a:off x="457200" y="14356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Conflion</a:t>
            </a:r>
            <a:endParaRPr lang="en-US" sz="1050" dirty="0"/>
          </a:p>
        </p:txBody>
      </p:sp>
      <p:sp>
        <p:nvSpPr>
          <p:cNvPr id="6" name="Conflion line"/>
          <p:cNvSpPr txBox="1"/>
          <p:nvPr/>
        </p:nvSpPr>
        <p:spPr>
          <a:xfrm>
            <a:off x="1691640" y="1435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Finds the conflicts a letter-for-letter search misses and routes each intake to the right approvers.</a:t>
            </a:r>
            <a:endParaRPr lang="en-US" sz="950" dirty="0"/>
          </a:p>
        </p:txBody>
      </p:sp>
      <p:sp>
        <p:nvSpPr>
          <p:cNvPr id="7" name="Party Finder name"/>
          <p:cNvSpPr txBox="1"/>
          <p:nvPr/>
        </p:nvSpPr>
        <p:spPr>
          <a:xfrm>
            <a:off x="457200" y="1819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Party Finder</a:t>
            </a:r>
            <a:endParaRPr lang="en-US" sz="1050" dirty="0"/>
          </a:p>
        </p:txBody>
      </p:sp>
      <p:sp>
        <p:nvSpPr>
          <p:cNvPr id="8" name="Party Finder line"/>
          <p:cNvSpPr txBox="1"/>
          <p:nvPr/>
        </p:nvSpPr>
        <p:spPr>
          <a:xfrm>
            <a:off x="1691640" y="181965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Reads the complaint or deal papers and lists every name to run, so intake misses no one.</a:t>
            </a:r>
            <a:endParaRPr lang="en-US" sz="950" dirty="0"/>
          </a:p>
        </p:txBody>
      </p:sp>
      <p:sp>
        <p:nvSpPr>
          <p:cNvPr id="9" name="LexAtlas name"/>
          <p:cNvSpPr txBox="1"/>
          <p:nvPr/>
        </p:nvSpPr>
        <p:spPr>
          <a:xfrm>
            <a:off x="457200" y="22037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LexAtlas</a:t>
            </a:r>
            <a:endParaRPr lang="en-US" sz="1050" dirty="0"/>
          </a:p>
        </p:txBody>
      </p:sp>
      <p:sp>
        <p:nvSpPr>
          <p:cNvPr id="10" name="LexAtlas line"/>
          <p:cNvSpPr txBox="1"/>
          <p:nvPr/>
        </p:nvSpPr>
        <p:spPr>
          <a:xfrm>
            <a:off x="1691640" y="220370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Maps how companies, people and matters connect, for conflicts and diligence.</a:t>
            </a:r>
            <a:endParaRPr lang="en-US" sz="950" dirty="0"/>
          </a:p>
        </p:txBody>
      </p:sp>
      <p:sp>
        <p:nvSpPr>
          <p:cNvPr id="11" name="VigilMark name"/>
          <p:cNvSpPr txBox="1"/>
          <p:nvPr/>
        </p:nvSpPr>
        <p:spPr>
          <a:xfrm>
            <a:off x="457200" y="2587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VigilMark</a:t>
            </a:r>
            <a:endParaRPr lang="en-US" sz="1050" dirty="0"/>
          </a:p>
        </p:txBody>
      </p:sp>
      <p:sp>
        <p:nvSpPr>
          <p:cNvPr id="12" name="VigilMark line"/>
          <p:cNvSpPr txBox="1"/>
          <p:nvPr/>
        </p:nvSpPr>
        <p:spPr>
          <a:xfrm>
            <a:off x="1691640" y="258775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Ranks new trademark filings against clients' marks before the opposition window closes.</a:t>
            </a:r>
            <a:endParaRPr lang="en-US" sz="950" dirty="0"/>
          </a:p>
        </p:txBody>
      </p:sp>
      <p:sp>
        <p:nvSpPr>
          <p:cNvPr id="13" name="Litigation heading"/>
          <p:cNvSpPr txBox="1"/>
          <p:nvPr/>
        </p:nvSpPr>
        <p:spPr>
          <a:xfrm>
            <a:off x="457200" y="30449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LITIGATION</a:t>
            </a:r>
            <a:endParaRPr lang="en-US" sz="900" dirty="0"/>
          </a:p>
        </p:txBody>
      </p:sp>
      <p:sp>
        <p:nvSpPr>
          <p:cNvPr id="14" name="Win your case ASAP name"/>
          <p:cNvSpPr txBox="1"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Win your case ASAP</a:t>
            </a:r>
            <a:endParaRPr lang="en-US" sz="1050" dirty="0"/>
          </a:p>
        </p:txBody>
      </p:sp>
      <p:sp>
        <p:nvSpPr>
          <p:cNvPr id="15" name="Win your case ASAP line"/>
          <p:cNvSpPr txBox="1"/>
          <p:nvPr/>
        </p:nvSpPr>
        <p:spPr>
          <a:xfrm>
            <a:off x="1691640" y="32918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First read of a complaint: which motions could end the case early, with filing dates.</a:t>
            </a:r>
            <a:endParaRPr lang="en-US" sz="950" dirty="0"/>
          </a:p>
        </p:txBody>
      </p:sp>
      <p:sp>
        <p:nvSpPr>
          <p:cNvPr id="16" name="Testimony Check name"/>
          <p:cNvSpPr txBox="1"/>
          <p:nvPr/>
        </p:nvSpPr>
        <p:spPr>
          <a:xfrm>
            <a:off x="457200" y="36758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Testimony Check</a:t>
            </a:r>
            <a:endParaRPr lang="en-US" sz="1050" dirty="0"/>
          </a:p>
        </p:txBody>
      </p:sp>
      <p:sp>
        <p:nvSpPr>
          <p:cNvPr id="17" name="Testimony Check line"/>
          <p:cNvSpPr txBox="1"/>
          <p:nvPr/>
        </p:nvSpPr>
        <p:spPr>
          <a:xfrm>
            <a:off x="1691640" y="367588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Finds where a witness's story conflicts with the documents and drafts the deposition outline.</a:t>
            </a:r>
            <a:endParaRPr lang="en-US" sz="950" dirty="0"/>
          </a:p>
        </p:txBody>
      </p:sp>
      <p:sp>
        <p:nvSpPr>
          <p:cNvPr id="18" name="Citation Gate name"/>
          <p:cNvSpPr txBox="1"/>
          <p:nvPr/>
        </p:nvSpPr>
        <p:spPr>
          <a:xfrm>
            <a:off x="457200" y="40599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Citation Gate</a:t>
            </a:r>
            <a:endParaRPr lang="en-US" sz="1050" dirty="0"/>
          </a:p>
        </p:txBody>
      </p:sp>
      <p:sp>
        <p:nvSpPr>
          <p:cNvPr id="19" name="Citation Gate line"/>
          <p:cNvSpPr txBox="1"/>
          <p:nvPr/>
        </p:nvSpPr>
        <p:spPr>
          <a:xfrm>
            <a:off x="1691640" y="405993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Checks every cited case and quotation against real opinions before a brief goes out.</a:t>
            </a:r>
            <a:endParaRPr lang="en-US" sz="950" dirty="0"/>
          </a:p>
        </p:txBody>
      </p:sp>
      <p:sp>
        <p:nvSpPr>
          <p:cNvPr id="20" name="Case Wins Debrief name"/>
          <p:cNvSpPr txBox="1"/>
          <p:nvPr/>
        </p:nvSpPr>
        <p:spPr>
          <a:xfrm>
            <a:off x="457200" y="44439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Case Wins Debrief</a:t>
            </a:r>
            <a:endParaRPr lang="en-US" sz="1050" dirty="0"/>
          </a:p>
        </p:txBody>
      </p:sp>
      <p:sp>
        <p:nvSpPr>
          <p:cNvPr id="21" name="Case Wins Debrief line"/>
          <p:cNvSpPr txBox="1"/>
          <p:nvPr/>
        </p:nvSpPr>
        <p:spPr>
          <a:xfrm>
            <a:off x="1691640" y="444398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Turns each trial win into lessons and a tool the next team can reuse.</a:t>
            </a:r>
            <a:endParaRPr lang="en-US" sz="950" dirty="0"/>
          </a:p>
        </p:txBody>
      </p:sp>
      <p:sp>
        <p:nvSpPr>
          <p:cNvPr id="22" name="Transactions and practice groups heading"/>
          <p:cNvSpPr txBox="1"/>
          <p:nvPr/>
        </p:nvSpPr>
        <p:spPr>
          <a:xfrm>
            <a:off x="4663440" y="11887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TRANSACTIONS AND PRACTICE GROUPS</a:t>
            </a:r>
            <a:endParaRPr lang="en-US" sz="900" dirty="0"/>
          </a:p>
        </p:txBody>
      </p:sp>
      <p:sp>
        <p:nvSpPr>
          <p:cNvPr id="23" name="Matter Desk name"/>
          <p:cNvSpPr txBox="1"/>
          <p:nvPr/>
        </p:nvSpPr>
        <p:spPr>
          <a:xfrm>
            <a:off x="4663440" y="14356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Matter Desk</a:t>
            </a:r>
            <a:endParaRPr lang="en-US" sz="1050" dirty="0"/>
          </a:p>
        </p:txBody>
      </p:sp>
      <p:sp>
        <p:nvSpPr>
          <p:cNvPr id="24" name="Matter Desk line"/>
          <p:cNvSpPr txBox="1"/>
          <p:nvPr/>
        </p:nvSpPr>
        <p:spPr>
          <a:xfrm>
            <a:off x="5897880" y="1435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First read of a new matter in five practice areas, with every deadline dated.</a:t>
            </a:r>
            <a:endParaRPr lang="en-US" sz="950" dirty="0"/>
          </a:p>
        </p:txBody>
      </p:sp>
      <p:sp>
        <p:nvSpPr>
          <p:cNvPr id="25" name="Synthesis name"/>
          <p:cNvSpPr txBox="1"/>
          <p:nvPr/>
        </p:nvSpPr>
        <p:spPr>
          <a:xfrm>
            <a:off x="4663440" y="1819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Synthesis</a:t>
            </a:r>
            <a:endParaRPr lang="en-US" sz="1050" dirty="0"/>
          </a:p>
        </p:txBody>
      </p:sp>
      <p:sp>
        <p:nvSpPr>
          <p:cNvPr id="26" name="Synthesis line"/>
          <p:cNvSpPr txBox="1"/>
          <p:nvPr/>
        </p:nvSpPr>
        <p:spPr>
          <a:xfrm>
            <a:off x="5897880" y="181965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Buy-side deal workbench: schedules against reps, the markup explained, closing list built.</a:t>
            </a:r>
            <a:endParaRPr lang="en-US" sz="950" dirty="0"/>
          </a:p>
        </p:txBody>
      </p:sp>
      <p:sp>
        <p:nvSpPr>
          <p:cNvPr id="27" name="Skippy name"/>
          <p:cNvSpPr txBox="1"/>
          <p:nvPr/>
        </p:nvSpPr>
        <p:spPr>
          <a:xfrm>
            <a:off x="4663440" y="22037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Skippy</a:t>
            </a:r>
            <a:endParaRPr lang="en-US" sz="1050" dirty="0"/>
          </a:p>
        </p:txBody>
      </p:sp>
      <p:sp>
        <p:nvSpPr>
          <p:cNvPr id="28" name="Skippy line"/>
          <p:cNvSpPr txBox="1"/>
          <p:nvPr/>
        </p:nvSpPr>
        <p:spPr>
          <a:xfrm>
            <a:off x="5897880" y="220370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Answers questions about a matter's files, every answer cited to the page.</a:t>
            </a:r>
            <a:endParaRPr lang="en-US" sz="950" dirty="0"/>
          </a:p>
        </p:txBody>
      </p:sp>
      <p:sp>
        <p:nvSpPr>
          <p:cNvPr id="29" name="Billing and time heading"/>
          <p:cNvSpPr txBox="1"/>
          <p:nvPr/>
        </p:nvSpPr>
        <p:spPr>
          <a:xfrm>
            <a:off x="4663440" y="266090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BILLING AND TIME</a:t>
            </a:r>
            <a:endParaRPr lang="en-US" sz="900" dirty="0"/>
          </a:p>
        </p:txBody>
      </p:sp>
      <p:sp>
        <p:nvSpPr>
          <p:cNvPr id="30" name="Guideline Guard name"/>
          <p:cNvSpPr txBox="1"/>
          <p:nvPr/>
        </p:nvSpPr>
        <p:spPr>
          <a:xfrm>
            <a:off x="4663440" y="29077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Guideline Guard</a:t>
            </a:r>
            <a:endParaRPr lang="en-US" sz="1050" dirty="0"/>
          </a:p>
        </p:txBody>
      </p:sp>
      <p:sp>
        <p:nvSpPr>
          <p:cNvPr id="31" name="Guideline Guard line"/>
          <p:cNvSpPr txBox="1"/>
          <p:nvPr/>
        </p:nvSpPr>
        <p:spPr>
          <a:xfrm>
            <a:off x="5897880" y="29077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Checks each prebill against that client's own guidelines and proposes the fix.</a:t>
            </a:r>
            <a:endParaRPr lang="en-US" sz="950" dirty="0"/>
          </a:p>
        </p:txBody>
      </p:sp>
      <p:sp>
        <p:nvSpPr>
          <p:cNvPr id="32" name="Hour Catch name"/>
          <p:cNvSpPr txBox="1"/>
          <p:nvPr/>
        </p:nvSpPr>
        <p:spPr>
          <a:xfrm>
            <a:off x="466344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Hour Catch</a:t>
            </a:r>
            <a:endParaRPr lang="en-US" sz="1050" dirty="0"/>
          </a:p>
        </p:txBody>
      </p:sp>
      <p:sp>
        <p:nvSpPr>
          <p:cNvPr id="33" name="Hour Catch line"/>
          <p:cNvSpPr txBox="1"/>
          <p:nvPr/>
        </p:nvSpPr>
        <p:spPr>
          <a:xfrm>
            <a:off x="5897880" y="32918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Reads a lawyer's day in Outlook and Teams and drafts the time entries that would be lost.</a:t>
            </a:r>
            <a:endParaRPr lang="en-US" sz="950" dirty="0"/>
          </a:p>
        </p:txBody>
      </p:sp>
      <p:sp>
        <p:nvSpPr>
          <p:cNvPr id="34" name="Firm strategy and marketing heading"/>
          <p:cNvSpPr txBox="1"/>
          <p:nvPr/>
        </p:nvSpPr>
        <p:spPr>
          <a:xfrm>
            <a:off x="4663440" y="374904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FIRM STRATEGY AND MARKETING</a:t>
            </a:r>
            <a:endParaRPr lang="en-US" sz="900" dirty="0"/>
          </a:p>
        </p:txBody>
      </p:sp>
      <p:sp>
        <p:nvSpPr>
          <p:cNvPr id="35" name="Praxis name"/>
          <p:cNvSpPr txBox="1"/>
          <p:nvPr/>
        </p:nvSpPr>
        <p:spPr>
          <a:xfrm>
            <a:off x="4663440" y="39959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Praxis</a:t>
            </a:r>
            <a:endParaRPr lang="en-US" sz="1050" dirty="0"/>
          </a:p>
        </p:txBody>
      </p:sp>
      <p:sp>
        <p:nvSpPr>
          <p:cNvPr id="36" name="Praxis line"/>
          <p:cNvSpPr txBox="1"/>
          <p:nvPr/>
        </p:nvSpPr>
        <p:spPr>
          <a:xfrm>
            <a:off x="5897880" y="39959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Lets leadership compare AI ideas on impact, risk and effort, and track the pilots.</a:t>
            </a:r>
            <a:endParaRPr lang="en-US" sz="950" dirty="0"/>
          </a:p>
        </p:txBody>
      </p:sp>
      <p:sp>
        <p:nvSpPr>
          <p:cNvPr id="37" name="Marketing Studio name"/>
          <p:cNvSpPr txBox="1"/>
          <p:nvPr/>
        </p:nvSpPr>
        <p:spPr>
          <a:xfrm>
            <a:off x="4663440" y="4379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Marketing Studio</a:t>
            </a:r>
            <a:endParaRPr lang="en-US" sz="1050" dirty="0"/>
          </a:p>
        </p:txBody>
      </p:sp>
      <p:sp>
        <p:nvSpPr>
          <p:cNvPr id="38" name="Marketing Studio line"/>
          <p:cNvSpPr txBox="1"/>
          <p:nvPr/>
        </p:nvSpPr>
        <p:spPr>
          <a:xfrm>
            <a:off x="5897880" y="437997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Drafts bios, client alerts and RFP responses in the firm's voice, then checks the rules.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How I use AI: start with the work, then build and prove it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The same four steps for every tool, using whichever AI fits the job.</a:t>
            </a:r>
            <a:endParaRPr lang="en-US" sz="1300" dirty="0"/>
          </a:p>
        </p:txBody>
      </p:sp>
      <p:sp>
        <p:nvSpPr>
          <p:cNvPr id="4" name="Start with the work card"/>
          <p:cNvSpPr/>
          <p:nvPr/>
        </p:nvSpPr>
        <p:spPr>
          <a:xfrm>
            <a:off x="457200" y="1280160"/>
            <a:ext cx="1920240" cy="1965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user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01811"/>
            <a:ext cx="215067" cy="215067"/>
          </a:xfrm>
          <a:prstGeom prst="rect">
            <a:avLst/>
          </a:prstGeom>
        </p:spPr>
      </p:pic>
      <p:sp>
        <p:nvSpPr>
          <p:cNvPr id="7" name="Start with the work name"/>
          <p:cNvSpPr txBox="1"/>
          <p:nvPr/>
        </p:nvSpPr>
        <p:spPr>
          <a:xfrm>
            <a:off x="594360" y="18745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Start with the work</a:t>
            </a:r>
            <a:endParaRPr lang="en-US" sz="1300" dirty="0"/>
          </a:p>
        </p:txBody>
      </p:sp>
      <p:sp>
        <p:nvSpPr>
          <p:cNvPr id="8" name="Start with the work text"/>
          <p:cNvSpPr txBox="1"/>
          <p:nvPr/>
        </p:nvSpPr>
        <p:spPr>
          <a:xfrm>
            <a:off x="594360" y="21945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Write down how the task is really done here, who touches it and which rules apply, before any screen is built.</a:t>
            </a:r>
            <a:endParaRPr lang="en-US" sz="1100" dirty="0"/>
          </a:p>
        </p:txBody>
      </p:sp>
      <p:pic>
        <p:nvPicPr>
          <p:cNvPr id="9" name="how arrow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194560"/>
            <a:ext cx="146304" cy="146304"/>
          </a:xfrm>
          <a:prstGeom prst="rect">
            <a:avLst/>
          </a:prstGeom>
        </p:spPr>
      </p:pic>
      <p:sp>
        <p:nvSpPr>
          <p:cNvPr id="10" name="Build with AI card"/>
          <p:cNvSpPr/>
          <p:nvPr/>
        </p:nvSpPr>
        <p:spPr>
          <a:xfrm>
            <a:off x="2560320" y="1280160"/>
            <a:ext cx="1920240" cy="1965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square"/>
          <p:cNvSpPr/>
          <p:nvPr/>
        </p:nvSpPr>
        <p:spPr>
          <a:xfrm>
            <a:off x="269748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tool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971" y="1501811"/>
            <a:ext cx="215067" cy="215067"/>
          </a:xfrm>
          <a:prstGeom prst="rect">
            <a:avLst/>
          </a:prstGeom>
        </p:spPr>
      </p:pic>
      <p:sp>
        <p:nvSpPr>
          <p:cNvPr id="13" name="Build with AI name"/>
          <p:cNvSpPr txBox="1"/>
          <p:nvPr/>
        </p:nvSpPr>
        <p:spPr>
          <a:xfrm>
            <a:off x="2697480" y="18745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Build with AI</a:t>
            </a:r>
            <a:endParaRPr lang="en-US" sz="1300" dirty="0"/>
          </a:p>
        </p:txBody>
      </p:sp>
      <p:sp>
        <p:nvSpPr>
          <p:cNvPr id="14" name="Build with AI text"/>
          <p:cNvSpPr txBox="1"/>
          <p:nvPr/>
        </p:nvSpPr>
        <p:spPr>
          <a:xfrm>
            <a:off x="2697480" y="21945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Claude and Claude Code for most building. Open models such as Qwen on local hardware where client data must stay inside.</a:t>
            </a:r>
            <a:endParaRPr lang="en-US" sz="1100" dirty="0"/>
          </a:p>
        </p:txBody>
      </p:sp>
      <p:pic>
        <p:nvPicPr>
          <p:cNvPr id="15" name="how arrow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94560"/>
            <a:ext cx="146304" cy="146304"/>
          </a:xfrm>
          <a:prstGeom prst="rect">
            <a:avLst/>
          </a:prstGeom>
        </p:spPr>
      </p:pic>
      <p:sp>
        <p:nvSpPr>
          <p:cNvPr id="16" name="Test against reality card"/>
          <p:cNvSpPr/>
          <p:nvPr/>
        </p:nvSpPr>
        <p:spPr>
          <a:xfrm>
            <a:off x="4663440" y="1280160"/>
            <a:ext cx="1920240" cy="1965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 square"/>
          <p:cNvSpPr/>
          <p:nvPr/>
        </p:nvSpPr>
        <p:spPr>
          <a:xfrm>
            <a:off x="480060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check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5091" y="1501811"/>
            <a:ext cx="215067" cy="215067"/>
          </a:xfrm>
          <a:prstGeom prst="rect">
            <a:avLst/>
          </a:prstGeom>
        </p:spPr>
      </p:pic>
      <p:sp>
        <p:nvSpPr>
          <p:cNvPr id="19" name="Test against reality name"/>
          <p:cNvSpPr txBox="1"/>
          <p:nvPr/>
        </p:nvSpPr>
        <p:spPr>
          <a:xfrm>
            <a:off x="4800600" y="18745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Test against reality</a:t>
            </a:r>
            <a:endParaRPr lang="en-US" sz="1300" dirty="0"/>
          </a:p>
        </p:txBody>
      </p:sp>
      <p:sp>
        <p:nvSpPr>
          <p:cNvPr id="20" name="Test against reality text"/>
          <p:cNvSpPr txBox="1"/>
          <p:nvPr/>
        </p:nvSpPr>
        <p:spPr>
          <a:xfrm>
            <a:off x="4800600" y="21945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Score the tool against real outcomes, such as public court rulings, and keep a record of every run.</a:t>
            </a:r>
            <a:endParaRPr lang="en-US" sz="1100" dirty="0"/>
          </a:p>
        </p:txBody>
      </p:sp>
      <p:pic>
        <p:nvPicPr>
          <p:cNvPr id="21" name="how arrow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2194560"/>
            <a:ext cx="146304" cy="146304"/>
          </a:xfrm>
          <a:prstGeom prst="rect">
            <a:avLst/>
          </a:prstGeom>
        </p:spPr>
      </p:pic>
      <p:sp>
        <p:nvSpPr>
          <p:cNvPr id="22" name="Ship it complete card"/>
          <p:cNvSpPr/>
          <p:nvPr/>
        </p:nvSpPr>
        <p:spPr>
          <a:xfrm>
            <a:off x="6766560" y="1280160"/>
            <a:ext cx="1920240" cy="1965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 square"/>
          <p:cNvSpPr/>
          <p:nvPr/>
        </p:nvSpPr>
        <p:spPr>
          <a:xfrm>
            <a:off x="690372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lis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8211" y="1501811"/>
            <a:ext cx="215067" cy="215067"/>
          </a:xfrm>
          <a:prstGeom prst="rect">
            <a:avLst/>
          </a:prstGeom>
        </p:spPr>
      </p:pic>
      <p:sp>
        <p:nvSpPr>
          <p:cNvPr id="25" name="Ship it complete name"/>
          <p:cNvSpPr txBox="1"/>
          <p:nvPr/>
        </p:nvSpPr>
        <p:spPr>
          <a:xfrm>
            <a:off x="6903720" y="18745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Ship it complete</a:t>
            </a:r>
            <a:endParaRPr lang="en-US" sz="1300" dirty="0"/>
          </a:p>
        </p:txBody>
      </p:sp>
      <p:sp>
        <p:nvSpPr>
          <p:cNvPr id="26" name="Ship it complete text"/>
          <p:cNvSpPr txBox="1"/>
          <p:nvPr/>
        </p:nvSpPr>
        <p:spPr>
          <a:xfrm>
            <a:off x="6903720" y="21945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Tests, walkthroughs, plain-language guides and a features list for IT, so it can be reviewed and supported.</a:t>
            </a:r>
            <a:endParaRPr lang="en-US" sz="1100" dirty="0"/>
          </a:p>
        </p:txBody>
      </p:sp>
      <p:sp>
        <p:nvSpPr>
          <p:cNvPr id="27" name="rules heading"/>
          <p:cNvSpPr txBox="1"/>
          <p:nvPr/>
        </p:nvSpPr>
        <p:spPr>
          <a:xfrm>
            <a:off x="457200" y="35204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FOUR RULES EVERY TOOL FOLLOWS</a:t>
            </a:r>
            <a:endParaRPr lang="en-US" sz="900" dirty="0"/>
          </a:p>
        </p:txBody>
      </p:sp>
      <p:sp>
        <p:nvSpPr>
          <p:cNvPr id="28" name="rule bar 1"/>
          <p:cNvSpPr/>
          <p:nvPr/>
        </p:nvSpPr>
        <p:spPr>
          <a:xfrm>
            <a:off x="457200" y="3794760"/>
            <a:ext cx="54864" cy="8686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Lawyers decide rule"/>
          <p:cNvSpPr txBox="1"/>
          <p:nvPr/>
        </p:nvSpPr>
        <p:spPr>
          <a:xfrm>
            <a:off x="594360" y="37947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Lawyers decide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AI output stays a suggestion until a person confirms it.</a:t>
            </a:r>
            <a:endParaRPr lang="en-US" sz="1100" dirty="0"/>
          </a:p>
        </p:txBody>
      </p:sp>
      <p:sp>
        <p:nvSpPr>
          <p:cNvPr id="30" name="rule bar 2"/>
          <p:cNvSpPr/>
          <p:nvPr/>
        </p:nvSpPr>
        <p:spPr>
          <a:xfrm>
            <a:off x="2560320" y="3794760"/>
            <a:ext cx="54864" cy="8686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Code checks the model rule"/>
          <p:cNvSpPr txBox="1"/>
          <p:nvPr/>
        </p:nvSpPr>
        <p:spPr>
          <a:xfrm>
            <a:off x="2697480" y="37947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Code checks the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Quotes, dates and totals are verified in code.</a:t>
            </a:r>
            <a:endParaRPr lang="en-US" sz="1100" dirty="0"/>
          </a:p>
        </p:txBody>
      </p:sp>
      <p:sp>
        <p:nvSpPr>
          <p:cNvPr id="32" name="rule bar 3"/>
          <p:cNvSpPr/>
          <p:nvPr/>
        </p:nvSpPr>
        <p:spPr>
          <a:xfrm>
            <a:off x="4663440" y="3794760"/>
            <a:ext cx="54864" cy="8686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Client data protected rule"/>
          <p:cNvSpPr txBox="1"/>
          <p:nvPr/>
        </p:nvSpPr>
        <p:spPr>
          <a:xfrm>
            <a:off x="4800600" y="37947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Client data protected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Firm hardware, walls in the data, nothing sent without approval.</a:t>
            </a:r>
            <a:endParaRPr lang="en-US" sz="1100" dirty="0"/>
          </a:p>
        </p:txBody>
      </p:sp>
      <p:sp>
        <p:nvSpPr>
          <p:cNvPr id="34" name="rule bar 4"/>
          <p:cNvSpPr/>
          <p:nvPr/>
        </p:nvSpPr>
        <p:spPr>
          <a:xfrm>
            <a:off x="6766560" y="3794760"/>
            <a:ext cx="54864" cy="8686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Everything is traceable rule"/>
          <p:cNvSpPr txBox="1"/>
          <p:nvPr/>
        </p:nvSpPr>
        <p:spPr>
          <a:xfrm>
            <a:off x="6903720" y="37947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Everything is traceable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Each finding cites its source; each decision is logged.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Conflion shows what a full firm tool looks like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conflicts and intake system that puts all four pieces together.</a:t>
            </a:r>
            <a:endParaRPr lang="en-US" sz="1300" dirty="0"/>
          </a:p>
        </p:txBody>
      </p:sp>
      <p:sp>
        <p:nvSpPr>
          <p:cNvPr id="4" name="icon square"/>
          <p:cNvSpPr/>
          <p:nvPr/>
        </p:nvSpPr>
        <p:spPr>
          <a:xfrm>
            <a:off x="457200" y="1298448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82939"/>
            <a:ext cx="215067" cy="215067"/>
          </a:xfrm>
          <a:prstGeom prst="rect">
            <a:avLst/>
          </a:prstGeom>
        </p:spPr>
      </p:pic>
      <p:sp>
        <p:nvSpPr>
          <p:cNvPr id="6" name="Secure pillar"/>
          <p:cNvSpPr txBox="1"/>
          <p:nvPr/>
        </p:nvSpPr>
        <p:spPr>
          <a:xfrm>
            <a:off x="987552" y="1261872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Secure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Sign-on and roles. Ethical walls enforced in what each user can see. A tamper-evident audit trail.</a:t>
            </a:r>
            <a:endParaRPr lang="en-US" sz="1300" dirty="0"/>
          </a:p>
        </p:txBody>
      </p:sp>
      <p:sp>
        <p:nvSpPr>
          <p:cNvPr id="7" name="icon square"/>
          <p:cNvSpPr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link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233331"/>
            <a:ext cx="215067" cy="215067"/>
          </a:xfrm>
          <a:prstGeom prst="rect">
            <a:avLst/>
          </a:prstGeom>
        </p:spPr>
      </p:pic>
      <p:sp>
        <p:nvSpPr>
          <p:cNvPr id="9" name="Connected pillar"/>
          <p:cNvSpPr txBox="1"/>
          <p:nvPr/>
        </p:nvSpPr>
        <p:spPr>
          <a:xfrm>
            <a:off x="987552" y="2112264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Connected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Each intake routes to the right approvers. Walls feed a block list for the document system.</a:t>
            </a:r>
            <a:endParaRPr lang="en-US" sz="1300" dirty="0"/>
          </a:p>
        </p:txBody>
      </p:sp>
      <p:sp>
        <p:nvSpPr>
          <p:cNvPr id="10" name="icon square"/>
          <p:cNvSpPr/>
          <p:nvPr/>
        </p:nvSpPr>
        <p:spPr>
          <a:xfrm>
            <a:off x="457200" y="2999232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erve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83723"/>
            <a:ext cx="215067" cy="215067"/>
          </a:xfrm>
          <a:prstGeom prst="rect">
            <a:avLst/>
          </a:prstGeom>
        </p:spPr>
      </p:pic>
      <p:sp>
        <p:nvSpPr>
          <p:cNvPr id="12" name="Local model pillar"/>
          <p:cNvSpPr txBox="1"/>
          <p:nvPr/>
        </p:nvSpPr>
        <p:spPr>
          <a:xfrm>
            <a:off x="987552" y="296265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Local model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 AI runs on the firm's own hardware, so client names never leave the building.</a:t>
            </a:r>
            <a:endParaRPr lang="en-US" sz="1300" dirty="0"/>
          </a:p>
        </p:txBody>
      </p:sp>
      <p:sp>
        <p:nvSpPr>
          <p:cNvPr id="13" name="icon square"/>
          <p:cNvSpPr/>
          <p:nvPr/>
        </p:nvSpPr>
        <p:spPr>
          <a:xfrm>
            <a:off x="457200" y="3849624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target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934115"/>
            <a:ext cx="215067" cy="215067"/>
          </a:xfrm>
          <a:prstGeom prst="rect">
            <a:avLst/>
          </a:prstGeom>
        </p:spPr>
      </p:pic>
      <p:sp>
        <p:nvSpPr>
          <p:cNvPr id="15" name="Built to our rules pillar"/>
          <p:cNvSpPr txBox="1"/>
          <p:nvPr/>
        </p:nvSpPr>
        <p:spPr>
          <a:xfrm>
            <a:off x="987552" y="38130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Built to our rules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Catches what a letter-for-letter search misses (Smyth, Kate for Katherine, parent companies) and cites the conduct rule.</a:t>
            </a:r>
            <a:endParaRPr lang="en-US" sz="1300" dirty="0"/>
          </a:p>
        </p:txBody>
      </p:sp>
      <p:pic>
        <p:nvPicPr>
          <p:cNvPr id="16" name="Conflion hit review screenshot" descr="/mnt/project-files/legal-site/assets/conflion-hit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280160"/>
            <a:ext cx="3703320" cy="2313432"/>
          </a:xfrm>
          <a:prstGeom prst="rect">
            <a:avLst/>
          </a:prstGeom>
        </p:spPr>
      </p:pic>
      <p:sp>
        <p:nvSpPr>
          <p:cNvPr id="17" name="screenshot border"/>
          <p:cNvSpPr/>
          <p:nvPr/>
        </p:nvSpPr>
        <p:spPr>
          <a:xfrm>
            <a:off x="4983480" y="1280160"/>
            <a:ext cx="3703320" cy="2313432"/>
          </a:xfrm>
          <a:prstGeom prst="rect">
            <a:avLst/>
          </a:prstGeom>
          <a:ln w="9525">
            <a:solidFill>
              <a:srgbClr val="D0D0D0"/>
            </a:solidFill>
            <a:prstDash val="solid"/>
          </a:ln>
        </p:spPr>
      </p:sp>
      <p:sp>
        <p:nvSpPr>
          <p:cNvPr id="18" name="screenshot caption"/>
          <p:cNvSpPr txBox="1"/>
          <p:nvPr/>
        </p:nvSpPr>
        <p:spPr>
          <a:xfrm>
            <a:off x="4983480" y="36576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tx2"/>
                </a:solidFill>
              </a:rPr>
              <a:t>Hit review: each match explained in plain English. The AI note is marked advisory; a person decides.</a:t>
            </a:r>
            <a:endParaRPr lang="en-US" sz="950" dirty="0"/>
          </a:p>
        </p:txBody>
      </p:sp>
      <p:sp>
        <p:nvSpPr>
          <p:cNvPr id="19" name="pattern card"/>
          <p:cNvSpPr/>
          <p:nvPr/>
        </p:nvSpPr>
        <p:spPr>
          <a:xfrm>
            <a:off x="4983480" y="4206240"/>
            <a:ext cx="3703320" cy="5486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pattern line"/>
          <p:cNvSpPr txBox="1"/>
          <p:nvPr/>
        </p:nvSpPr>
        <p:spPr>
          <a:xfrm>
            <a:off x="5120640" y="42062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The same pattern could serve any workflow at the firm.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What I could build next, from small to firm-wide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Ideas I think are worth exploring. Which ones, and in what order, is leadership's call.</a:t>
            </a:r>
            <a:endParaRPr lang="en-US" sz="1300" dirty="0"/>
          </a:p>
        </p:txBody>
      </p:sp>
      <p:sp>
        <p:nvSpPr>
          <p:cNvPr id="4" name="Start small card"/>
          <p:cNvSpPr/>
          <p:nvPr/>
        </p:nvSpPr>
        <p:spPr>
          <a:xfrm>
            <a:off x="457200" y="1280160"/>
            <a:ext cx="26517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l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01811"/>
            <a:ext cx="215067" cy="215067"/>
          </a:xfrm>
          <a:prstGeom prst="rect">
            <a:avLst/>
          </a:prstGeom>
        </p:spPr>
      </p:pic>
      <p:sp>
        <p:nvSpPr>
          <p:cNvPr id="7" name="Start small name"/>
          <p:cNvSpPr txBox="1"/>
          <p:nvPr/>
        </p:nvSpPr>
        <p:spPr>
          <a:xfrm>
            <a:off x="109728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Start small</a:t>
            </a:r>
            <a:endParaRPr lang="en-US" sz="1400" dirty="0"/>
          </a:p>
        </p:txBody>
      </p:sp>
      <p:sp>
        <p:nvSpPr>
          <p:cNvPr id="8" name="Start small sub"/>
          <p:cNvSpPr txBox="1"/>
          <p:nvPr/>
        </p:nvSpPr>
        <p:spPr>
          <a:xfrm>
            <a:off x="594360" y="19385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Use what already works</a:t>
            </a:r>
            <a:endParaRPr lang="en-US" sz="1150" dirty="0"/>
          </a:p>
        </p:txBody>
      </p:sp>
      <p:sp>
        <p:nvSpPr>
          <p:cNvPr id="9" name="Start small bullets"/>
          <p:cNvSpPr txBox="1"/>
          <p:nvPr/>
        </p:nvSpPr>
        <p:spPr>
          <a:xfrm>
            <a:off x="594360" y="2304288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Pilot Guideline Guard, Party Finder or Marketing Studio with our own documents.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No connection to firm systems needed.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 person reviews every output.</a:t>
            </a:r>
            <a:endParaRPr lang="en-US" sz="1250" dirty="0"/>
          </a:p>
        </p:txBody>
      </p:sp>
      <p:pic>
        <p:nvPicPr>
          <p:cNvPr id="10" name="next arrow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2852928"/>
            <a:ext cx="146304" cy="146304"/>
          </a:xfrm>
          <a:prstGeom prst="rect">
            <a:avLst/>
          </a:prstGeom>
        </p:spPr>
      </p:pic>
      <p:sp>
        <p:nvSpPr>
          <p:cNvPr id="11" name="Connect card"/>
          <p:cNvSpPr/>
          <p:nvPr/>
        </p:nvSpPr>
        <p:spPr>
          <a:xfrm>
            <a:off x="3291840" y="1280160"/>
            <a:ext cx="26517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 square"/>
          <p:cNvSpPr/>
          <p:nvPr/>
        </p:nvSpPr>
        <p:spPr>
          <a:xfrm>
            <a:off x="342900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link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491" y="1501811"/>
            <a:ext cx="215067" cy="215067"/>
          </a:xfrm>
          <a:prstGeom prst="rect">
            <a:avLst/>
          </a:prstGeom>
        </p:spPr>
      </p:pic>
      <p:sp>
        <p:nvSpPr>
          <p:cNvPr id="14" name="Connect name"/>
          <p:cNvSpPr txBox="1"/>
          <p:nvPr/>
        </p:nvSpPr>
        <p:spPr>
          <a:xfrm>
            <a:off x="393192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Connect</a:t>
            </a:r>
            <a:endParaRPr lang="en-US" sz="1400" dirty="0"/>
          </a:p>
        </p:txBody>
      </p:sp>
      <p:sp>
        <p:nvSpPr>
          <p:cNvPr id="15" name="Connect sub"/>
          <p:cNvSpPr txBox="1"/>
          <p:nvPr/>
        </p:nvSpPr>
        <p:spPr>
          <a:xfrm>
            <a:off x="3429000" y="19385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Plug proven tools into firm systems</a:t>
            </a:r>
            <a:endParaRPr lang="en-US" sz="1150" dirty="0"/>
          </a:p>
        </p:txBody>
      </p:sp>
      <p:sp>
        <p:nvSpPr>
          <p:cNvPr id="16" name="Connect bullets"/>
          <p:cNvSpPr txBox="1"/>
          <p:nvPr/>
        </p:nvSpPr>
        <p:spPr>
          <a:xfrm>
            <a:off x="3429000" y="2304288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Ask the matter: questions over a matter's files, answered with page cites.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Hour Catch: draft time entries from Outlook and Teams.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Client risk radar: flag lawsuits and audits hitting our clients.</a:t>
            </a:r>
            <a:endParaRPr lang="en-US" sz="1250" dirty="0"/>
          </a:p>
        </p:txBody>
      </p:sp>
      <p:pic>
        <p:nvPicPr>
          <p:cNvPr id="17" name="next arrow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2852928"/>
            <a:ext cx="146304" cy="146304"/>
          </a:xfrm>
          <a:prstGeom prst="rect">
            <a:avLst/>
          </a:prstGeom>
        </p:spPr>
      </p:pic>
      <p:sp>
        <p:nvSpPr>
          <p:cNvPr id="18" name="Firm-wide, for discussion card"/>
          <p:cNvSpPr/>
          <p:nvPr/>
        </p:nvSpPr>
        <p:spPr>
          <a:xfrm>
            <a:off x="6126480" y="1280160"/>
            <a:ext cx="2651760" cy="3291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icon square"/>
          <p:cNvSpPr/>
          <p:nvPr/>
        </p:nvSpPr>
        <p:spPr>
          <a:xfrm>
            <a:off x="6263640" y="1417320"/>
            <a:ext cx="384048" cy="384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0" name="layer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1499616"/>
            <a:ext cx="219456" cy="219456"/>
          </a:xfrm>
          <a:prstGeom prst="rect">
            <a:avLst/>
          </a:prstGeom>
        </p:spPr>
      </p:pic>
      <p:sp>
        <p:nvSpPr>
          <p:cNvPr id="21" name="Firm-wide, for discussion name"/>
          <p:cNvSpPr txBox="1"/>
          <p:nvPr/>
        </p:nvSpPr>
        <p:spPr>
          <a:xfrm>
            <a:off x="676656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Firm-wide, for discussion</a:t>
            </a:r>
            <a:endParaRPr lang="en-US" sz="1400" dirty="0"/>
          </a:p>
        </p:txBody>
      </p:sp>
      <p:sp>
        <p:nvSpPr>
          <p:cNvPr id="22" name="Firm-wide, for discussion sub"/>
          <p:cNvSpPr txBox="1"/>
          <p:nvPr/>
        </p:nvSpPr>
        <p:spPr>
          <a:xfrm>
            <a:off x="6263640" y="19385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accent3"/>
                </a:solidFill>
              </a:rPr>
              <a:t>One firm-owned platform</a:t>
            </a:r>
            <a:endParaRPr lang="en-US" sz="1150" dirty="0"/>
          </a:p>
        </p:txBody>
      </p:sp>
      <p:sp>
        <p:nvSpPr>
          <p:cNvPr id="23" name="Firm-wide, for discussion bullets"/>
          <p:cNvSpPr txBox="1"/>
          <p:nvPr/>
        </p:nvSpPr>
        <p:spPr>
          <a:xfrm>
            <a:off x="6263640" y="2304288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Every tool as a module over all files, matters and systems.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One set of permissions, one audit trail, models on firm hardware.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Includes a knowledge engine: "who here has handled this?"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Where I think my AI skills are strongest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And the value each could bring to the firm.</a:t>
            </a:r>
            <a:endParaRPr lang="en-US" sz="1300" dirty="0"/>
          </a:p>
        </p:txBody>
      </p:sp>
      <p:sp>
        <p:nvSpPr>
          <p:cNvPr id="4" name="Turning legal work into tools card"/>
          <p:cNvSpPr/>
          <p:nvPr/>
        </p:nvSpPr>
        <p:spPr>
          <a:xfrm>
            <a:off x="457200" y="1280160"/>
            <a:ext cx="4023360" cy="96012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user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01811"/>
            <a:ext cx="215067" cy="215067"/>
          </a:xfrm>
          <a:prstGeom prst="rect">
            <a:avLst/>
          </a:prstGeom>
        </p:spPr>
      </p:pic>
      <p:sp>
        <p:nvSpPr>
          <p:cNvPr id="7" name="Turning legal work into tools text"/>
          <p:cNvSpPr txBox="1"/>
          <p:nvPr/>
        </p:nvSpPr>
        <p:spPr>
          <a:xfrm>
            <a:off x="1097280" y="138988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Turning legal work into tools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Each tool starts from how the task is really done, so people actually use it.</a:t>
            </a:r>
            <a:endParaRPr lang="en-US" sz="1300" dirty="0"/>
          </a:p>
        </p:txBody>
      </p:sp>
      <p:sp>
        <p:nvSpPr>
          <p:cNvPr id="8" name="Building it safely card"/>
          <p:cNvSpPr/>
          <p:nvPr/>
        </p:nvSpPr>
        <p:spPr>
          <a:xfrm>
            <a:off x="4663440" y="1280160"/>
            <a:ext cx="4023360" cy="96012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9" name="icon square"/>
          <p:cNvSpPr/>
          <p:nvPr/>
        </p:nvSpPr>
        <p:spPr>
          <a:xfrm>
            <a:off x="480060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hiel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91" y="1501811"/>
            <a:ext cx="215067" cy="215067"/>
          </a:xfrm>
          <a:prstGeom prst="rect">
            <a:avLst/>
          </a:prstGeom>
        </p:spPr>
      </p:pic>
      <p:sp>
        <p:nvSpPr>
          <p:cNvPr id="11" name="Building it safely text"/>
          <p:cNvSpPr txBox="1"/>
          <p:nvPr/>
        </p:nvSpPr>
        <p:spPr>
          <a:xfrm>
            <a:off x="5303520" y="138988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Building it safely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Local models, walls, audit trails and human sign-off, designed in from day one.</a:t>
            </a:r>
            <a:endParaRPr lang="en-US" sz="1300" dirty="0"/>
          </a:p>
        </p:txBody>
      </p:sp>
      <p:sp>
        <p:nvSpPr>
          <p:cNvPr id="12" name="Choosing what is worth building card"/>
          <p:cNvSpPr/>
          <p:nvPr/>
        </p:nvSpPr>
        <p:spPr>
          <a:xfrm>
            <a:off x="457200" y="2377440"/>
            <a:ext cx="4023360" cy="96012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3" name="icon square"/>
          <p:cNvSpPr/>
          <p:nvPr/>
        </p:nvSpPr>
        <p:spPr>
          <a:xfrm>
            <a:off x="594360" y="251460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compas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51" y="2599091"/>
            <a:ext cx="215067" cy="215067"/>
          </a:xfrm>
          <a:prstGeom prst="rect">
            <a:avLst/>
          </a:prstGeom>
        </p:spPr>
      </p:pic>
      <p:sp>
        <p:nvSpPr>
          <p:cNvPr id="15" name="Choosing what is worth building text"/>
          <p:cNvSpPr txBox="1"/>
          <p:nvPr/>
        </p:nvSpPr>
        <p:spPr>
          <a:xfrm>
            <a:off x="1097280" y="248716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Choosing what is worth building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Weighing impact against effort, data readiness, risk, adoption and who supports it.</a:t>
            </a:r>
            <a:endParaRPr lang="en-US" sz="1300" dirty="0"/>
          </a:p>
        </p:txBody>
      </p:sp>
      <p:sp>
        <p:nvSpPr>
          <p:cNvPr id="16" name="Helping people use it card"/>
          <p:cNvSpPr/>
          <p:nvPr/>
        </p:nvSpPr>
        <p:spPr>
          <a:xfrm>
            <a:off x="4663440" y="2377440"/>
            <a:ext cx="4023360" cy="96012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7" name="icon square"/>
          <p:cNvSpPr/>
          <p:nvPr/>
        </p:nvSpPr>
        <p:spPr>
          <a:xfrm>
            <a:off x="4800600" y="251460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boo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91" y="2599091"/>
            <a:ext cx="215067" cy="215067"/>
          </a:xfrm>
          <a:prstGeom prst="rect">
            <a:avLst/>
          </a:prstGeom>
        </p:spPr>
      </p:pic>
      <p:sp>
        <p:nvSpPr>
          <p:cNvPr id="19" name="Helping people use it text"/>
          <p:cNvSpPr txBox="1"/>
          <p:nvPr/>
        </p:nvSpPr>
        <p:spPr>
          <a:xfrm>
            <a:off x="5303520" y="248716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Helping people use it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Walkthroughs, plain-language guides and an IT features list with every tool.</a:t>
            </a:r>
            <a:endParaRPr lang="en-US" sz="1300" dirty="0"/>
          </a:p>
        </p:txBody>
      </p:sp>
      <p:sp>
        <p:nvSpPr>
          <p:cNvPr id="20" name="discussion card"/>
          <p:cNvSpPr/>
          <p:nvPr/>
        </p:nvSpPr>
        <p:spPr>
          <a:xfrm>
            <a:off x="457200" y="3611880"/>
            <a:ext cx="8229600" cy="10972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icon square"/>
          <p:cNvSpPr/>
          <p:nvPr/>
        </p:nvSpPr>
        <p:spPr>
          <a:xfrm>
            <a:off x="640080" y="3767328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help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71" y="3851819"/>
            <a:ext cx="215067" cy="215067"/>
          </a:xfrm>
          <a:prstGeom prst="rect">
            <a:avLst/>
          </a:prstGeom>
        </p:spPr>
      </p:pic>
      <p:sp>
        <p:nvSpPr>
          <p:cNvPr id="23" name="discussion heading"/>
          <p:cNvSpPr txBox="1"/>
          <p:nvPr/>
        </p:nvSpPr>
        <p:spPr>
          <a:xfrm>
            <a:off x="1188720" y="372160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For discussion</a:t>
            </a:r>
            <a:endParaRPr lang="en-US" sz="1100" dirty="0"/>
          </a:p>
        </p:txBody>
      </p:sp>
      <p:sp>
        <p:nvSpPr>
          <p:cNvPr id="24" name="discussion question"/>
          <p:cNvSpPr txBox="1"/>
          <p:nvPr/>
        </p:nvSpPr>
        <p:spPr>
          <a:xfrm>
            <a:off x="1188720" y="4023360"/>
            <a:ext cx="7269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Which problems would you most like AI to solve here, and what would you need to see before trying one?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for the firm">
  <a:themeElements>
    <a:clrScheme name="AI for the firm">
      <a:dk1>
        <a:srgbClr val="211E1F"/>
      </a:dk1>
      <a:lt1>
        <a:srgbClr val="FFFFFF"/>
      </a:lt1>
      <a:dk2>
        <a:srgbClr val="5E5E5E"/>
      </a:dk2>
      <a:lt2>
        <a:srgbClr val="F2F2F2"/>
      </a:lt2>
      <a:accent1>
        <a:srgbClr val="436C6D"/>
      </a:accent1>
      <a:accent2>
        <a:srgbClr val="E16E39"/>
      </a:accent2>
      <a:accent3>
        <a:srgbClr val="BFE0D5"/>
      </a:accent3>
      <a:accent4>
        <a:srgbClr val="66938F"/>
      </a:accent4>
      <a:accent5>
        <a:srgbClr val="436C6D"/>
      </a:accent5>
      <a:accent6>
        <a:srgbClr val="BDD7DE"/>
      </a:accent6>
      <a:hlink>
        <a:srgbClr val="436C6D"/>
      </a:hlink>
      <a:folHlink>
        <a:srgbClr val="5E5E5E"/>
      </a:folHlink>
    </a:clrScheme>
    <a:fontScheme name="AI for the fir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 have built and can build with AI</dc:title>
  <dc:subject>PptxGenJS Presentation</dc:subject>
  <dc:creator>Myles Parslow</dc:creator>
  <cp:lastModifiedBy>Myles Parslow</cp:lastModifiedBy>
  <cp:revision>1</cp:revision>
  <dcterms:created xsi:type="dcterms:W3CDTF">2026-10-29T00:42:40Z</dcterms:created>
  <dcterms:modified xsi:type="dcterms:W3CDTF">2026-10-29T00:42:40Z</dcterms:modified>
</cp:coreProperties>
</file>