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I for the firm" id="{6b1d20b7-4271-c322-219c-3523f9396ca3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2D4459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D4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I have built fifteen working legal tools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Built on my own time, for nearly every part of the firm. A lawyer makes every decision.</a:t>
            </a:r>
            <a:endParaRPr lang="en-US" sz="1300" dirty="0"/>
          </a:p>
        </p:txBody>
      </p:sp>
      <p:sp>
        <p:nvSpPr>
          <p:cNvPr id="4" name="Conflicts and intake column"/>
          <p:cNvSpPr/>
          <p:nvPr/>
        </p:nvSpPr>
        <p:spPr>
          <a:xfrm>
            <a:off x="457200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flicts and intake heading"/>
          <p:cNvSpPr txBox="1"/>
          <p:nvPr/>
        </p:nvSpPr>
        <p:spPr>
          <a:xfrm>
            <a:off x="548640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Conflicts and intake</a:t>
            </a:r>
            <a:endParaRPr lang="en-US" sz="1100" dirty="0"/>
          </a:p>
        </p:txBody>
      </p:sp>
      <p:sp>
        <p:nvSpPr>
          <p:cNvPr id="6" name="Conflion entry"/>
          <p:cNvSpPr txBox="1"/>
          <p:nvPr/>
        </p:nvSpPr>
        <p:spPr>
          <a:xfrm>
            <a:off x="548640" y="168249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Conflion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Conflicts check and intake</a:t>
            </a:r>
            <a:endParaRPr lang="en-US" sz="1200" dirty="0"/>
          </a:p>
        </p:txBody>
      </p:sp>
      <p:sp>
        <p:nvSpPr>
          <p:cNvPr id="7" name="Party Finder entry"/>
          <p:cNvSpPr txBox="1"/>
          <p:nvPr/>
        </p:nvSpPr>
        <p:spPr>
          <a:xfrm>
            <a:off x="548640" y="232257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Party Finder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Names to search, from the documents</a:t>
            </a:r>
            <a:endParaRPr lang="en-US" sz="1200" dirty="0"/>
          </a:p>
        </p:txBody>
      </p:sp>
      <p:sp>
        <p:nvSpPr>
          <p:cNvPr id="8" name="LexAtlas entry"/>
          <p:cNvSpPr txBox="1"/>
          <p:nvPr/>
        </p:nvSpPr>
        <p:spPr>
          <a:xfrm>
            <a:off x="548640" y="296265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LexAtlas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Relationship graph with ethical walls</a:t>
            </a:r>
            <a:endParaRPr lang="en-US" sz="1200" dirty="0"/>
          </a:p>
        </p:txBody>
      </p:sp>
      <p:sp>
        <p:nvSpPr>
          <p:cNvPr id="9" name="VigilMark entry"/>
          <p:cNvSpPr txBox="1"/>
          <p:nvPr/>
        </p:nvSpPr>
        <p:spPr>
          <a:xfrm>
            <a:off x="548640" y="360273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VigilMark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Trademark watch and triage</a:t>
            </a:r>
            <a:endParaRPr lang="en-US" sz="1200" dirty="0"/>
          </a:p>
        </p:txBody>
      </p:sp>
      <p:sp>
        <p:nvSpPr>
          <p:cNvPr id="10" name="Litigation column"/>
          <p:cNvSpPr/>
          <p:nvPr/>
        </p:nvSpPr>
        <p:spPr>
          <a:xfrm>
            <a:off x="2139696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tigation heading"/>
          <p:cNvSpPr txBox="1"/>
          <p:nvPr/>
        </p:nvSpPr>
        <p:spPr>
          <a:xfrm>
            <a:off x="2231136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Litigation</a:t>
            </a:r>
            <a:endParaRPr lang="en-US" sz="1100" dirty="0"/>
          </a:p>
        </p:txBody>
      </p:sp>
      <p:sp>
        <p:nvSpPr>
          <p:cNvPr id="12" name="Win your case ASAP entry"/>
          <p:cNvSpPr txBox="1"/>
          <p:nvPr/>
        </p:nvSpPr>
        <p:spPr>
          <a:xfrm>
            <a:off x="2231136" y="168249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Win your case ASAP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First read of a complaint</a:t>
            </a:r>
            <a:endParaRPr lang="en-US" sz="1200" dirty="0"/>
          </a:p>
        </p:txBody>
      </p:sp>
      <p:sp>
        <p:nvSpPr>
          <p:cNvPr id="13" name="Testimony Check entry"/>
          <p:cNvSpPr txBox="1"/>
          <p:nvPr/>
        </p:nvSpPr>
        <p:spPr>
          <a:xfrm>
            <a:off x="2231136" y="232257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Testimony Check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Witness vs. the record</a:t>
            </a:r>
            <a:endParaRPr lang="en-US" sz="1200" dirty="0"/>
          </a:p>
        </p:txBody>
      </p:sp>
      <p:sp>
        <p:nvSpPr>
          <p:cNvPr id="14" name="Citation Gate entry"/>
          <p:cNvSpPr txBox="1"/>
          <p:nvPr/>
        </p:nvSpPr>
        <p:spPr>
          <a:xfrm>
            <a:off x="2231136" y="296265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Citation Gate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Every citation checked</a:t>
            </a:r>
            <a:endParaRPr lang="en-US" sz="1200" dirty="0"/>
          </a:p>
        </p:txBody>
      </p:sp>
      <p:sp>
        <p:nvSpPr>
          <p:cNvPr id="15" name="Case Wins Debrief entry"/>
          <p:cNvSpPr txBox="1"/>
          <p:nvPr/>
        </p:nvSpPr>
        <p:spPr>
          <a:xfrm>
            <a:off x="2231136" y="360273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Case Wins Debrief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Lessons from wins, reusable</a:t>
            </a:r>
            <a:endParaRPr lang="en-US" sz="1200" dirty="0"/>
          </a:p>
        </p:txBody>
      </p:sp>
      <p:sp>
        <p:nvSpPr>
          <p:cNvPr id="16" name="Transactions and practice groups column"/>
          <p:cNvSpPr/>
          <p:nvPr/>
        </p:nvSpPr>
        <p:spPr>
          <a:xfrm>
            <a:off x="3822192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ransactions and practice groups heading"/>
          <p:cNvSpPr txBox="1"/>
          <p:nvPr/>
        </p:nvSpPr>
        <p:spPr>
          <a:xfrm>
            <a:off x="3913632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Transactions and practice groups</a:t>
            </a:r>
            <a:endParaRPr lang="en-US" sz="1100" dirty="0"/>
          </a:p>
        </p:txBody>
      </p:sp>
      <p:sp>
        <p:nvSpPr>
          <p:cNvPr id="18" name="Matter Desk entry"/>
          <p:cNvSpPr txBox="1"/>
          <p:nvPr/>
        </p:nvSpPr>
        <p:spPr>
          <a:xfrm>
            <a:off x="3913632" y="168249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Matter Desk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First read of a new matter</a:t>
            </a:r>
            <a:endParaRPr lang="en-US" sz="1200" dirty="0"/>
          </a:p>
        </p:txBody>
      </p:sp>
      <p:sp>
        <p:nvSpPr>
          <p:cNvPr id="19" name="Synthesis entry"/>
          <p:cNvSpPr txBox="1"/>
          <p:nvPr/>
        </p:nvSpPr>
        <p:spPr>
          <a:xfrm>
            <a:off x="3913632" y="232257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Synthesis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Buy-side deal workbench</a:t>
            </a:r>
            <a:endParaRPr lang="en-US" sz="1200" dirty="0"/>
          </a:p>
        </p:txBody>
      </p:sp>
      <p:sp>
        <p:nvSpPr>
          <p:cNvPr id="20" name="Skippy entry"/>
          <p:cNvSpPr txBox="1"/>
          <p:nvPr/>
        </p:nvSpPr>
        <p:spPr>
          <a:xfrm>
            <a:off x="3913632" y="296265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Skippy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Ask the matter, cited to the page</a:t>
            </a:r>
            <a:endParaRPr lang="en-US" sz="1200" dirty="0"/>
          </a:p>
        </p:txBody>
      </p:sp>
      <p:sp>
        <p:nvSpPr>
          <p:cNvPr id="21" name="Billing and time column"/>
          <p:cNvSpPr/>
          <p:nvPr/>
        </p:nvSpPr>
        <p:spPr>
          <a:xfrm>
            <a:off x="5504688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Billing and time heading"/>
          <p:cNvSpPr txBox="1"/>
          <p:nvPr/>
        </p:nvSpPr>
        <p:spPr>
          <a:xfrm>
            <a:off x="5596128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Billing and time</a:t>
            </a:r>
            <a:endParaRPr lang="en-US" sz="1100" dirty="0"/>
          </a:p>
        </p:txBody>
      </p:sp>
      <p:sp>
        <p:nvSpPr>
          <p:cNvPr id="23" name="Guideline Guard entry"/>
          <p:cNvSpPr txBox="1"/>
          <p:nvPr/>
        </p:nvSpPr>
        <p:spPr>
          <a:xfrm>
            <a:off x="5596128" y="168249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Guideline Guard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Client guidelines on the prebill</a:t>
            </a:r>
            <a:endParaRPr lang="en-US" sz="1200" dirty="0"/>
          </a:p>
        </p:txBody>
      </p:sp>
      <p:sp>
        <p:nvSpPr>
          <p:cNvPr id="24" name="Hour Catch entry"/>
          <p:cNvSpPr txBox="1"/>
          <p:nvPr/>
        </p:nvSpPr>
        <p:spPr>
          <a:xfrm>
            <a:off x="5596128" y="232257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Hour Catch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Missed time, drafted</a:t>
            </a:r>
            <a:endParaRPr lang="en-US" sz="1200" dirty="0"/>
          </a:p>
        </p:txBody>
      </p:sp>
      <p:sp>
        <p:nvSpPr>
          <p:cNvPr id="25" name="Firm strategy and knowledge column"/>
          <p:cNvSpPr/>
          <p:nvPr/>
        </p:nvSpPr>
        <p:spPr>
          <a:xfrm>
            <a:off x="7187184" y="1188720"/>
            <a:ext cx="1572768" cy="312724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Firm strategy and knowledge heading"/>
          <p:cNvSpPr txBox="1"/>
          <p:nvPr/>
        </p:nvSpPr>
        <p:spPr>
          <a:xfrm>
            <a:off x="7278624" y="1243584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Firm strategy and knowledge</a:t>
            </a:r>
            <a:endParaRPr lang="en-US" sz="1100" dirty="0"/>
          </a:p>
        </p:txBody>
      </p:sp>
      <p:sp>
        <p:nvSpPr>
          <p:cNvPr id="27" name="Praxis entry"/>
          <p:cNvSpPr txBox="1"/>
          <p:nvPr/>
        </p:nvSpPr>
        <p:spPr>
          <a:xfrm>
            <a:off x="7278624" y="168249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Praxis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Scores AI ideas, runs pilots</a:t>
            </a:r>
            <a:endParaRPr lang="en-US" sz="1200" dirty="0"/>
          </a:p>
        </p:txBody>
      </p:sp>
      <p:sp>
        <p:nvSpPr>
          <p:cNvPr id="28" name="Marketing Studio entry"/>
          <p:cNvSpPr txBox="1"/>
          <p:nvPr/>
        </p:nvSpPr>
        <p:spPr>
          <a:xfrm>
            <a:off x="7278624" y="232257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Marketing Studio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Bios, alerts and RFPs, checked</a:t>
            </a:r>
            <a:endParaRPr lang="en-US" sz="1200" dirty="0"/>
          </a:p>
        </p:txBody>
      </p:sp>
      <p:sp>
        <p:nvSpPr>
          <p:cNvPr id="29" name="icon square"/>
          <p:cNvSpPr/>
          <p:nvPr/>
        </p:nvSpPr>
        <p:spPr>
          <a:xfrm>
            <a:off x="457200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50" y="4522622"/>
            <a:ext cx="153619" cy="153619"/>
          </a:xfrm>
          <a:prstGeom prst="rect">
            <a:avLst/>
          </a:prstGeom>
        </p:spPr>
      </p:pic>
      <p:sp>
        <p:nvSpPr>
          <p:cNvPr id="31" name="IT strip lock"/>
          <p:cNvSpPr txBox="1"/>
          <p:nvPr/>
        </p:nvSpPr>
        <p:spPr>
          <a:xfrm>
            <a:off x="786384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Data stays on firm hardware</a:t>
            </a:r>
            <a:endParaRPr lang="en-US" sz="950" dirty="0"/>
          </a:p>
        </p:txBody>
      </p:sp>
      <p:sp>
        <p:nvSpPr>
          <p:cNvPr id="32" name="icon square"/>
          <p:cNvSpPr/>
          <p:nvPr/>
        </p:nvSpPr>
        <p:spPr>
          <a:xfrm>
            <a:off x="2157984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us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334" y="4522622"/>
            <a:ext cx="153619" cy="153619"/>
          </a:xfrm>
          <a:prstGeom prst="rect">
            <a:avLst/>
          </a:prstGeom>
        </p:spPr>
      </p:pic>
      <p:sp>
        <p:nvSpPr>
          <p:cNvPr id="34" name="IT strip users"/>
          <p:cNvSpPr txBox="1"/>
          <p:nvPr/>
        </p:nvSpPr>
        <p:spPr>
          <a:xfrm>
            <a:off x="2487168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Sign-on and roles</a:t>
            </a:r>
            <a:endParaRPr lang="en-US" sz="950" dirty="0"/>
          </a:p>
        </p:txBody>
      </p:sp>
      <p:sp>
        <p:nvSpPr>
          <p:cNvPr id="35" name="icon square"/>
          <p:cNvSpPr/>
          <p:nvPr/>
        </p:nvSpPr>
        <p:spPr>
          <a:xfrm>
            <a:off x="3858768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shiel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118" y="4522622"/>
            <a:ext cx="153619" cy="153619"/>
          </a:xfrm>
          <a:prstGeom prst="rect">
            <a:avLst/>
          </a:prstGeom>
        </p:spPr>
      </p:pic>
      <p:sp>
        <p:nvSpPr>
          <p:cNvPr id="37" name="IT strip shield"/>
          <p:cNvSpPr txBox="1"/>
          <p:nvPr/>
        </p:nvSpPr>
        <p:spPr>
          <a:xfrm>
            <a:off x="4187952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Ethical walls</a:t>
            </a:r>
            <a:endParaRPr lang="en-US" sz="950" dirty="0"/>
          </a:p>
        </p:txBody>
      </p:sp>
      <p:sp>
        <p:nvSpPr>
          <p:cNvPr id="38" name="icon square"/>
          <p:cNvSpPr/>
          <p:nvPr/>
        </p:nvSpPr>
        <p:spPr>
          <a:xfrm>
            <a:off x="5559552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list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902" y="4522622"/>
            <a:ext cx="153619" cy="153619"/>
          </a:xfrm>
          <a:prstGeom prst="rect">
            <a:avLst/>
          </a:prstGeom>
        </p:spPr>
      </p:pic>
      <p:sp>
        <p:nvSpPr>
          <p:cNvPr id="40" name="IT strip list"/>
          <p:cNvSpPr txBox="1"/>
          <p:nvPr/>
        </p:nvSpPr>
        <p:spPr>
          <a:xfrm>
            <a:off x="5888736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Audit trail</a:t>
            </a:r>
            <a:endParaRPr lang="en-US" sz="950" dirty="0"/>
          </a:p>
        </p:txBody>
      </p:sp>
      <p:sp>
        <p:nvSpPr>
          <p:cNvPr id="41" name="icon square"/>
          <p:cNvSpPr/>
          <p:nvPr/>
        </p:nvSpPr>
        <p:spPr>
          <a:xfrm>
            <a:off x="7260336" y="4462272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2" name="check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0686" y="4522622"/>
            <a:ext cx="153619" cy="153619"/>
          </a:xfrm>
          <a:prstGeom prst="rect">
            <a:avLst/>
          </a:prstGeom>
        </p:spPr>
      </p:pic>
      <p:sp>
        <p:nvSpPr>
          <p:cNvPr id="43" name="IT strip check"/>
          <p:cNvSpPr txBox="1"/>
          <p:nvPr/>
        </p:nvSpPr>
        <p:spPr>
          <a:xfrm>
            <a:off x="7589520" y="442569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Tests and docs for 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Four quick wins on what we already license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Ideas, not a plan. Each uses data the firm already holds, and a person reviews every output.</a:t>
            </a:r>
            <a:endParaRPr lang="en-US" sz="1300" dirty="0"/>
          </a:p>
        </p:txBody>
      </p:sp>
      <p:sp>
        <p:nvSpPr>
          <p:cNvPr id="4" name="Client guidelines brief card"/>
          <p:cNvSpPr/>
          <p:nvPr/>
        </p:nvSpPr>
        <p:spPr>
          <a:xfrm>
            <a:off x="457200" y="1234440"/>
            <a:ext cx="4023360" cy="1645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37160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oo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456091"/>
            <a:ext cx="215067" cy="215067"/>
          </a:xfrm>
          <a:prstGeom prst="rect">
            <a:avLst/>
          </a:prstGeom>
        </p:spPr>
      </p:pic>
      <p:sp>
        <p:nvSpPr>
          <p:cNvPr id="7" name="Client guidelines brief name"/>
          <p:cNvSpPr txBox="1"/>
          <p:nvPr/>
        </p:nvSpPr>
        <p:spPr>
          <a:xfrm>
            <a:off x="1097280" y="134416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Client guidelines brief</a:t>
            </a:r>
            <a:endParaRPr lang="en-US" sz="1400" dirty="0"/>
          </a:p>
        </p:txBody>
      </p:sp>
      <p:sp>
        <p:nvSpPr>
          <p:cNvPr id="8" name="Client guidelines brief what"/>
          <p:cNvSpPr txBox="1"/>
          <p:nvPr/>
        </p:nvSpPr>
        <p:spPr>
          <a:xfrm>
            <a:off x="594360" y="189280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Each client's billing rules on one page, and entries that break them flagged before the invoice goes out.</a:t>
            </a:r>
            <a:endParaRPr lang="en-US" sz="1300" dirty="0"/>
          </a:p>
        </p:txBody>
      </p:sp>
      <p:sp>
        <p:nvSpPr>
          <p:cNvPr id="9" name="Pre-bill reviewer card"/>
          <p:cNvSpPr/>
          <p:nvPr/>
        </p:nvSpPr>
        <p:spPr>
          <a:xfrm>
            <a:off x="4663440" y="1234440"/>
            <a:ext cx="4023360" cy="1645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 square"/>
          <p:cNvSpPr/>
          <p:nvPr/>
        </p:nvSpPr>
        <p:spPr>
          <a:xfrm>
            <a:off x="4800600" y="137160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dolla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91" y="1456091"/>
            <a:ext cx="215067" cy="215067"/>
          </a:xfrm>
          <a:prstGeom prst="rect">
            <a:avLst/>
          </a:prstGeom>
        </p:spPr>
      </p:pic>
      <p:sp>
        <p:nvSpPr>
          <p:cNvPr id="12" name="Pre-bill reviewer name"/>
          <p:cNvSpPr txBox="1"/>
          <p:nvPr/>
        </p:nvSpPr>
        <p:spPr>
          <a:xfrm>
            <a:off x="5303520" y="134416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Pre-bill reviewer</a:t>
            </a:r>
            <a:endParaRPr lang="en-US" sz="1400" dirty="0"/>
          </a:p>
        </p:txBody>
      </p:sp>
      <p:sp>
        <p:nvSpPr>
          <p:cNvPr id="13" name="Pre-bill reviewer what"/>
          <p:cNvSpPr txBox="1"/>
          <p:nvPr/>
        </p:nvSpPr>
        <p:spPr>
          <a:xfrm>
            <a:off x="4800600" y="189280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Flags vague or block-billed entries a client would reject, and suggests the rewrite.</a:t>
            </a:r>
            <a:endParaRPr lang="en-US" sz="1300" dirty="0"/>
          </a:p>
        </p:txBody>
      </p:sp>
      <p:sp>
        <p:nvSpPr>
          <p:cNvPr id="14" name="Matter handoff memo card"/>
          <p:cNvSpPr/>
          <p:nvPr/>
        </p:nvSpPr>
        <p:spPr>
          <a:xfrm>
            <a:off x="457200" y="3017520"/>
            <a:ext cx="4023360" cy="1645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 square"/>
          <p:cNvSpPr/>
          <p:nvPr/>
        </p:nvSpPr>
        <p:spPr>
          <a:xfrm>
            <a:off x="594360" y="315468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repea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51" y="3239171"/>
            <a:ext cx="215067" cy="215067"/>
          </a:xfrm>
          <a:prstGeom prst="rect">
            <a:avLst/>
          </a:prstGeom>
        </p:spPr>
      </p:pic>
      <p:sp>
        <p:nvSpPr>
          <p:cNvPr id="17" name="Matter handoff memo name"/>
          <p:cNvSpPr txBox="1"/>
          <p:nvPr/>
        </p:nvSpPr>
        <p:spPr>
          <a:xfrm>
            <a:off x="1097280" y="312724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Matter handoff memo</a:t>
            </a:r>
            <a:endParaRPr lang="en-US" sz="1400" dirty="0"/>
          </a:p>
        </p:txBody>
      </p:sp>
      <p:sp>
        <p:nvSpPr>
          <p:cNvPr id="18" name="Matter handoff memo what"/>
          <p:cNvSpPr txBox="1"/>
          <p:nvPr/>
        </p:nvSpPr>
        <p:spPr>
          <a:xfrm>
            <a:off x="594360" y="367588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"state of the matter" brief from the emails and documents when someone rotates off or retires.</a:t>
            </a:r>
            <a:endParaRPr lang="en-US" sz="1300" dirty="0"/>
          </a:p>
        </p:txBody>
      </p:sp>
      <p:sp>
        <p:nvSpPr>
          <p:cNvPr id="19" name="Drafting from our own precedents card"/>
          <p:cNvSpPr/>
          <p:nvPr/>
        </p:nvSpPr>
        <p:spPr>
          <a:xfrm>
            <a:off x="4663440" y="3017520"/>
            <a:ext cx="4023360" cy="1645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square"/>
          <p:cNvSpPr/>
          <p:nvPr/>
        </p:nvSpPr>
        <p:spPr>
          <a:xfrm>
            <a:off x="4800600" y="315468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edit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91" y="3239171"/>
            <a:ext cx="215067" cy="215067"/>
          </a:xfrm>
          <a:prstGeom prst="rect">
            <a:avLst/>
          </a:prstGeom>
        </p:spPr>
      </p:pic>
      <p:sp>
        <p:nvSpPr>
          <p:cNvPr id="22" name="Drafting from our own precedents name"/>
          <p:cNvSpPr txBox="1"/>
          <p:nvPr/>
        </p:nvSpPr>
        <p:spPr>
          <a:xfrm>
            <a:off x="5303520" y="312724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Drafting from our own precedents</a:t>
            </a:r>
            <a:endParaRPr lang="en-US" sz="1400" dirty="0"/>
          </a:p>
        </p:txBody>
      </p:sp>
      <p:sp>
        <p:nvSpPr>
          <p:cNvPr id="23" name="Drafting from our own precedents what"/>
          <p:cNvSpPr txBox="1"/>
          <p:nvPr/>
        </p:nvSpPr>
        <p:spPr>
          <a:xfrm>
            <a:off x="4800600" y="367588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First drafts from the firm's best past documents, inside Copilot and the document system.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Three bigger ideas, built on what the firm already knows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Directions I find promising. They would need IT and leadership to shape them.</a:t>
            </a:r>
            <a:endParaRPr lang="en-US" sz="1300" dirty="0"/>
          </a:p>
        </p:txBody>
      </p:sp>
      <p:sp>
        <p:nvSpPr>
          <p:cNvPr id="4" name="Client risk radar card"/>
          <p:cNvSpPr/>
          <p:nvPr/>
        </p:nvSpPr>
        <p:spPr>
          <a:xfrm>
            <a:off x="457200" y="13258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rad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47531"/>
            <a:ext cx="215067" cy="215067"/>
          </a:xfrm>
          <a:prstGeom prst="rect">
            <a:avLst/>
          </a:prstGeom>
        </p:spPr>
      </p:pic>
      <p:sp>
        <p:nvSpPr>
          <p:cNvPr id="7" name="Client risk radar name"/>
          <p:cNvSpPr txBox="1"/>
          <p:nvPr/>
        </p:nvSpPr>
        <p:spPr>
          <a:xfrm>
            <a:off x="109728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Client risk radar</a:t>
            </a:r>
            <a:endParaRPr lang="en-US" sz="1400" dirty="0"/>
          </a:p>
        </p:txBody>
      </p:sp>
      <p:sp>
        <p:nvSpPr>
          <p:cNvPr id="8" name="Client risk radar what"/>
          <p:cNvSpPr txBox="1"/>
          <p:nvPr/>
        </p:nvSpPr>
        <p:spPr>
          <a:xfrm>
            <a:off x="59436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Watches public signals about our clients, such as lawsuits, inspection citations and agency audits.</a:t>
            </a:r>
            <a:endParaRPr lang="en-US" sz="1250" dirty="0"/>
          </a:p>
        </p:txBody>
      </p:sp>
      <p:sp>
        <p:nvSpPr>
          <p:cNvPr id="9" name="Client risk radar why"/>
          <p:cNvSpPr txBox="1"/>
          <p:nvPr/>
        </p:nvSpPr>
        <p:spPr>
          <a:xfrm>
            <a:off x="59436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 call the client before they know they need help.</a:t>
            </a:r>
            <a:endParaRPr lang="en-US" sz="1200" dirty="0"/>
          </a:p>
        </p:txBody>
      </p:sp>
      <p:sp>
        <p:nvSpPr>
          <p:cNvPr id="10" name="Firm knowledge engine card"/>
          <p:cNvSpPr/>
          <p:nvPr/>
        </p:nvSpPr>
        <p:spPr>
          <a:xfrm>
            <a:off x="3291840" y="13258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square"/>
          <p:cNvSpPr/>
          <p:nvPr/>
        </p:nvSpPr>
        <p:spPr>
          <a:xfrm>
            <a:off x="342900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search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491" y="1547531"/>
            <a:ext cx="215067" cy="215067"/>
          </a:xfrm>
          <a:prstGeom prst="rect">
            <a:avLst/>
          </a:prstGeom>
        </p:spPr>
      </p:pic>
      <p:sp>
        <p:nvSpPr>
          <p:cNvPr id="13" name="Firm knowledge engine name"/>
          <p:cNvSpPr txBox="1"/>
          <p:nvPr/>
        </p:nvSpPr>
        <p:spPr>
          <a:xfrm>
            <a:off x="393192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Firm knowledge engine</a:t>
            </a:r>
            <a:endParaRPr lang="en-US" sz="1400" dirty="0"/>
          </a:p>
        </p:txBody>
      </p:sp>
      <p:sp>
        <p:nvSpPr>
          <p:cNvPr id="14" name="Firm knowledge engine what"/>
          <p:cNvSpPr txBox="1"/>
          <p:nvPr/>
        </p:nvSpPr>
        <p:spPr>
          <a:xfrm>
            <a:off x="342900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Ask "who here has handled this?" or "how did we argue this before?" and get an answer from our own files.</a:t>
            </a:r>
            <a:endParaRPr lang="en-US" sz="1250" dirty="0"/>
          </a:p>
        </p:txBody>
      </p:sp>
      <p:sp>
        <p:nvSpPr>
          <p:cNvPr id="15" name="Firm knowledge engine why"/>
          <p:cNvSpPr txBox="1"/>
          <p:nvPr/>
        </p:nvSpPr>
        <p:spPr>
          <a:xfrm>
            <a:off x="342900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Keeps expertise when senior partners retire.</a:t>
            </a:r>
            <a:endParaRPr lang="en-US" sz="1200" dirty="0"/>
          </a:p>
        </p:txBody>
      </p:sp>
      <p:sp>
        <p:nvSpPr>
          <p:cNvPr id="16" name="Ask the matter card"/>
          <p:cNvSpPr/>
          <p:nvPr/>
        </p:nvSpPr>
        <p:spPr>
          <a:xfrm>
            <a:off x="6126480" y="13258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 square"/>
          <p:cNvSpPr/>
          <p:nvPr/>
        </p:nvSpPr>
        <p:spPr>
          <a:xfrm>
            <a:off x="626364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msg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131" y="1547531"/>
            <a:ext cx="215067" cy="215067"/>
          </a:xfrm>
          <a:prstGeom prst="rect">
            <a:avLst/>
          </a:prstGeom>
        </p:spPr>
      </p:pic>
      <p:sp>
        <p:nvSpPr>
          <p:cNvPr id="19" name="Ask the matter name"/>
          <p:cNvSpPr txBox="1"/>
          <p:nvPr/>
        </p:nvSpPr>
        <p:spPr>
          <a:xfrm>
            <a:off x="676656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Ask the matter</a:t>
            </a:r>
            <a:endParaRPr lang="en-US" sz="1400" dirty="0"/>
          </a:p>
        </p:txBody>
      </p:sp>
      <p:sp>
        <p:nvSpPr>
          <p:cNvPr id="20" name="Ask the matter what"/>
          <p:cNvSpPr txBox="1"/>
          <p:nvPr/>
        </p:nvSpPr>
        <p:spPr>
          <a:xfrm>
            <a:off x="626364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Questions over one matter's files, every answer cited to the page.</a:t>
            </a:r>
            <a:endParaRPr lang="en-US" sz="1250" dirty="0"/>
          </a:p>
        </p:txBody>
      </p:sp>
      <p:sp>
        <p:nvSpPr>
          <p:cNvPr id="21" name="Ask the matter why"/>
          <p:cNvSpPr txBox="1"/>
          <p:nvPr/>
        </p:nvSpPr>
        <p:spPr>
          <a:xfrm>
            <a:off x="6263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contained first step toward the knowledge engine.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My filter: configure first, buy second, build last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lens I have found useful, offered for discussion.</a:t>
            </a:r>
            <a:endParaRPr lang="en-US" sz="1300" dirty="0"/>
          </a:p>
        </p:txBody>
      </p:sp>
      <p:sp>
        <p:nvSpPr>
          <p:cNvPr id="4" name="questions heading"/>
          <p:cNvSpPr txBox="1"/>
          <p:nvPr/>
        </p:nvSpPr>
        <p:spPr>
          <a:xfrm>
            <a:off x="457200" y="1280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Five questions I ask of an idea</a:t>
            </a:r>
            <a:endParaRPr lang="en-US" sz="1300" dirty="0"/>
          </a:p>
        </p:txBody>
      </p:sp>
      <p:sp>
        <p:nvSpPr>
          <p:cNvPr id="5" name="number 1"/>
          <p:cNvSpPr/>
          <p:nvPr/>
        </p:nvSpPr>
        <p:spPr>
          <a:xfrm>
            <a:off x="457200" y="1664208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number text 1"/>
          <p:cNvSpPr txBox="1"/>
          <p:nvPr/>
        </p:nvSpPr>
        <p:spPr>
          <a:xfrm>
            <a:off x="45720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question 1"/>
          <p:cNvSpPr txBox="1"/>
          <p:nvPr/>
        </p:nvSpPr>
        <p:spPr>
          <a:xfrm>
            <a:off x="914400" y="16276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Impact against effort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Who benefits, and how much work it takes.</a:t>
            </a:r>
            <a:endParaRPr lang="en-US" sz="1200" dirty="0"/>
          </a:p>
        </p:txBody>
      </p:sp>
      <p:sp>
        <p:nvSpPr>
          <p:cNvPr id="8" name="number 2"/>
          <p:cNvSpPr/>
          <p:nvPr/>
        </p:nvSpPr>
        <p:spPr>
          <a:xfrm>
            <a:off x="457200" y="2231136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number text 2"/>
          <p:cNvSpPr txBox="1"/>
          <p:nvPr/>
        </p:nvSpPr>
        <p:spPr>
          <a:xfrm>
            <a:off x="457200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question 2"/>
          <p:cNvSpPr txBox="1"/>
          <p:nvPr/>
        </p:nvSpPr>
        <p:spPr>
          <a:xfrm>
            <a:off x="91440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Data readiness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Is the data clean, in one place, and allowed?</a:t>
            </a:r>
            <a:endParaRPr lang="en-US" sz="1200" dirty="0"/>
          </a:p>
        </p:txBody>
      </p:sp>
      <p:sp>
        <p:nvSpPr>
          <p:cNvPr id="11" name="number 3"/>
          <p:cNvSpPr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number text 3"/>
          <p:cNvSpPr txBox="1"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question 3"/>
          <p:cNvSpPr txBox="1"/>
          <p:nvPr/>
        </p:nvSpPr>
        <p:spPr>
          <a:xfrm>
            <a:off x="914400" y="27614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Risk and confidentiality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Do walls, permissions and client instructions hold?</a:t>
            </a:r>
            <a:endParaRPr lang="en-US" sz="1200" dirty="0"/>
          </a:p>
        </p:txBody>
      </p:sp>
      <p:sp>
        <p:nvSpPr>
          <p:cNvPr id="14" name="number 4"/>
          <p:cNvSpPr/>
          <p:nvPr/>
        </p:nvSpPr>
        <p:spPr>
          <a:xfrm>
            <a:off x="457200" y="3364992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umber text 4"/>
          <p:cNvSpPr txBox="1"/>
          <p:nvPr/>
        </p:nvSpPr>
        <p:spPr>
          <a:xfrm>
            <a:off x="45720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question 4"/>
          <p:cNvSpPr txBox="1"/>
          <p:nvPr/>
        </p:nvSpPr>
        <p:spPr>
          <a:xfrm>
            <a:off x="914400" y="33284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Adoption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Does it fit how people already work?</a:t>
            </a:r>
            <a:endParaRPr lang="en-US" sz="1200" dirty="0"/>
          </a:p>
        </p:txBody>
      </p:sp>
      <p:sp>
        <p:nvSpPr>
          <p:cNvPr id="17" name="number 5"/>
          <p:cNvSpPr/>
          <p:nvPr/>
        </p:nvSpPr>
        <p:spPr>
          <a:xfrm>
            <a:off x="457200" y="3931920"/>
            <a:ext cx="329184" cy="32918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number text 5"/>
          <p:cNvSpPr txBox="1"/>
          <p:nvPr/>
        </p:nvSpPr>
        <p:spPr>
          <a:xfrm>
            <a:off x="45720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question 5"/>
          <p:cNvSpPr txBox="1"/>
          <p:nvPr/>
        </p:nvSpPr>
        <p:spPr>
          <a:xfrm>
            <a:off x="914400" y="38953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Supportability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Who maintains it?</a:t>
            </a:r>
            <a:endParaRPr lang="en-US" sz="1200" dirty="0"/>
          </a:p>
        </p:txBody>
      </p:sp>
      <p:sp>
        <p:nvSpPr>
          <p:cNvPr id="20" name="order heading"/>
          <p:cNvSpPr txBox="1"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The order I would lean toward</a:t>
            </a:r>
            <a:endParaRPr lang="en-US" sz="1300" dirty="0"/>
          </a:p>
        </p:txBody>
      </p:sp>
      <p:sp>
        <p:nvSpPr>
          <p:cNvPr id="21" name="Configure first card"/>
          <p:cNvSpPr/>
          <p:nvPr/>
        </p:nvSpPr>
        <p:spPr>
          <a:xfrm>
            <a:off x="5029200" y="1645920"/>
            <a:ext cx="3657600" cy="67665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icon square"/>
          <p:cNvSpPr/>
          <p:nvPr/>
        </p:nvSpPr>
        <p:spPr>
          <a:xfrm>
            <a:off x="5138928" y="1792224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setting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3419" y="1876715"/>
            <a:ext cx="215067" cy="215067"/>
          </a:xfrm>
          <a:prstGeom prst="rect">
            <a:avLst/>
          </a:prstGeom>
        </p:spPr>
      </p:pic>
      <p:sp>
        <p:nvSpPr>
          <p:cNvPr id="24" name="Configure first text"/>
          <p:cNvSpPr txBox="1"/>
          <p:nvPr/>
        </p:nvSpPr>
        <p:spPr>
          <a:xfrm>
            <a:off x="5623560" y="1700784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Configure first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Get more from Copilot and the document system.</a:t>
            </a:r>
            <a:endParaRPr lang="en-US" sz="1200" dirty="0"/>
          </a:p>
        </p:txBody>
      </p:sp>
      <p:sp>
        <p:nvSpPr>
          <p:cNvPr id="25" name="Buy second card"/>
          <p:cNvSpPr/>
          <p:nvPr/>
        </p:nvSpPr>
        <p:spPr>
          <a:xfrm>
            <a:off x="5029200" y="2432304"/>
            <a:ext cx="3657600" cy="67665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icon square"/>
          <p:cNvSpPr/>
          <p:nvPr/>
        </p:nvSpPr>
        <p:spPr>
          <a:xfrm>
            <a:off x="5138928" y="2578608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car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3419" y="2663099"/>
            <a:ext cx="215067" cy="215067"/>
          </a:xfrm>
          <a:prstGeom prst="rect">
            <a:avLst/>
          </a:prstGeom>
        </p:spPr>
      </p:pic>
      <p:sp>
        <p:nvSpPr>
          <p:cNvPr id="28" name="Buy second text"/>
          <p:cNvSpPr txBox="1"/>
          <p:nvPr/>
        </p:nvSpPr>
        <p:spPr>
          <a:xfrm>
            <a:off x="5623560" y="2487168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Buy second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Where the market is mature and vendors pass vetting.</a:t>
            </a:r>
            <a:endParaRPr lang="en-US" sz="1200" dirty="0"/>
          </a:p>
        </p:txBody>
      </p:sp>
      <p:sp>
        <p:nvSpPr>
          <p:cNvPr id="29" name="Build last card"/>
          <p:cNvSpPr/>
          <p:nvPr/>
        </p:nvSpPr>
        <p:spPr>
          <a:xfrm>
            <a:off x="5029200" y="3218688"/>
            <a:ext cx="3657600" cy="67665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icon square"/>
          <p:cNvSpPr/>
          <p:nvPr/>
        </p:nvSpPr>
        <p:spPr>
          <a:xfrm>
            <a:off x="5138928" y="3364992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tool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3419" y="3449483"/>
            <a:ext cx="215067" cy="215067"/>
          </a:xfrm>
          <a:prstGeom prst="rect">
            <a:avLst/>
          </a:prstGeom>
        </p:spPr>
      </p:pic>
      <p:sp>
        <p:nvSpPr>
          <p:cNvPr id="32" name="Build last text"/>
          <p:cNvSpPr txBox="1"/>
          <p:nvPr/>
        </p:nvSpPr>
        <p:spPr>
          <a:xfrm>
            <a:off x="5623560" y="327355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Build last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Only where our own data is the advantage.</a:t>
            </a:r>
            <a:endParaRPr lang="en-US" sz="1200" dirty="0"/>
          </a:p>
        </p:txBody>
      </p:sp>
      <p:sp>
        <p:nvSpPr>
          <p:cNvPr id="33" name="what IT keeps card"/>
          <p:cNvSpPr/>
          <p:nvPr/>
        </p:nvSpPr>
        <p:spPr>
          <a:xfrm>
            <a:off x="5029200" y="4041648"/>
            <a:ext cx="3657600" cy="713232"/>
          </a:xfrm>
          <a:prstGeom prst="rect">
            <a:avLst/>
          </a:prstGeom>
          <a:solidFill>
            <a:srgbClr val="2D4459"/>
          </a:solidFill>
          <a:ln w="12700">
            <a:solidFill>
              <a:srgbClr val="2D4459"/>
            </a:solidFill>
            <a:prstDash val="solid"/>
          </a:ln>
        </p:spPr>
      </p:sp>
      <p:sp>
        <p:nvSpPr>
          <p:cNvPr id="34" name="what IT keeps text"/>
          <p:cNvSpPr txBox="1"/>
          <p:nvPr/>
        </p:nvSpPr>
        <p:spPr>
          <a:xfrm>
            <a:off x="5166360" y="407822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All of it inside IT's rules. </a:t>
            </a:r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Infrastructure, security, vendors and what goes live are IT's call.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A rollout takes about two weeks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One example, the client guidelines brief, as I picture it. Nothing new to host.</a:t>
            </a:r>
            <a:endParaRPr lang="en-US" sz="1300" dirty="0"/>
          </a:p>
        </p:txBody>
      </p:sp>
      <p:sp>
        <p:nvSpPr>
          <p:cNvPr id="4" name="step 1 card"/>
          <p:cNvSpPr/>
          <p:nvPr/>
        </p:nvSpPr>
        <p:spPr>
          <a:xfrm>
            <a:off x="457200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5" name="step number 1"/>
          <p:cNvSpPr/>
          <p:nvPr/>
        </p:nvSpPr>
        <p:spPr>
          <a:xfrm>
            <a:off x="566928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number text 1"/>
          <p:cNvSpPr txBox="1"/>
          <p:nvPr/>
        </p:nvSpPr>
        <p:spPr>
          <a:xfrm>
            <a:off x="566928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step title 1"/>
          <p:cNvSpPr txBox="1"/>
          <p:nvPr/>
        </p:nvSpPr>
        <p:spPr>
          <a:xfrm>
            <a:off x="950976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Collect</a:t>
            </a:r>
            <a:endParaRPr lang="en-US" sz="1400" dirty="0"/>
          </a:p>
        </p:txBody>
      </p:sp>
      <p:sp>
        <p:nvSpPr>
          <p:cNvPr id="8" name="step when 1"/>
          <p:cNvSpPr txBox="1"/>
          <p:nvPr/>
        </p:nvSpPr>
        <p:spPr>
          <a:xfrm>
            <a:off x="566928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Day 1</a:t>
            </a:r>
            <a:endParaRPr lang="en-US" sz="1000" dirty="0"/>
          </a:p>
        </p:txBody>
      </p:sp>
      <p:sp>
        <p:nvSpPr>
          <p:cNvPr id="9" name="step text 1"/>
          <p:cNvSpPr txBox="1"/>
          <p:nvPr/>
        </p:nvSpPr>
        <p:spPr>
          <a:xfrm>
            <a:off x="566928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The client guidelines are already in the document system.</a:t>
            </a:r>
            <a:endParaRPr lang="en-US" sz="1050" dirty="0"/>
          </a:p>
        </p:txBody>
      </p:sp>
      <p:pic>
        <p:nvPicPr>
          <p:cNvPr id="10" name="step arrow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3392" y="2148840"/>
            <a:ext cx="182880" cy="182880"/>
          </a:xfrm>
          <a:prstGeom prst="rect">
            <a:avLst/>
          </a:prstGeom>
        </p:spPr>
      </p:pic>
      <p:sp>
        <p:nvSpPr>
          <p:cNvPr id="11" name="step 2 card"/>
          <p:cNvSpPr/>
          <p:nvPr/>
        </p:nvSpPr>
        <p:spPr>
          <a:xfrm>
            <a:off x="2139696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2" name="step number 2"/>
          <p:cNvSpPr/>
          <p:nvPr/>
        </p:nvSpPr>
        <p:spPr>
          <a:xfrm>
            <a:off x="2249424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 number text 2"/>
          <p:cNvSpPr txBox="1"/>
          <p:nvPr/>
        </p:nvSpPr>
        <p:spPr>
          <a:xfrm>
            <a:off x="2249424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step title 2"/>
          <p:cNvSpPr txBox="1"/>
          <p:nvPr/>
        </p:nvSpPr>
        <p:spPr>
          <a:xfrm>
            <a:off x="2633472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Build</a:t>
            </a:r>
            <a:endParaRPr lang="en-US" sz="1400" dirty="0"/>
          </a:p>
        </p:txBody>
      </p:sp>
      <p:sp>
        <p:nvSpPr>
          <p:cNvPr id="15" name="step when 2"/>
          <p:cNvSpPr txBox="1"/>
          <p:nvPr/>
        </p:nvSpPr>
        <p:spPr>
          <a:xfrm>
            <a:off x="2249424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Days 2 to 3</a:t>
            </a:r>
            <a:endParaRPr lang="en-US" sz="1000" dirty="0"/>
          </a:p>
        </p:txBody>
      </p:sp>
      <p:sp>
        <p:nvSpPr>
          <p:cNvPr id="16" name="step text 2"/>
          <p:cNvSpPr txBox="1"/>
          <p:nvPr/>
        </p:nvSpPr>
        <p:spPr>
          <a:xfrm>
            <a:off x="2249424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One page of billing rules per client, each tied to its source paragraph.</a:t>
            </a:r>
            <a:endParaRPr lang="en-US" sz="1050" dirty="0"/>
          </a:p>
        </p:txBody>
      </p:sp>
      <p:pic>
        <p:nvPicPr>
          <p:cNvPr id="17" name="step arrow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2148840"/>
            <a:ext cx="182880" cy="182880"/>
          </a:xfrm>
          <a:prstGeom prst="rect">
            <a:avLst/>
          </a:prstGeom>
        </p:spPr>
      </p:pic>
      <p:sp>
        <p:nvSpPr>
          <p:cNvPr id="18" name="step 3 card"/>
          <p:cNvSpPr/>
          <p:nvPr/>
        </p:nvSpPr>
        <p:spPr>
          <a:xfrm>
            <a:off x="3822192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9" name="step number 3"/>
          <p:cNvSpPr/>
          <p:nvPr/>
        </p:nvSpPr>
        <p:spPr>
          <a:xfrm>
            <a:off x="3931920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step number text 3"/>
          <p:cNvSpPr txBox="1"/>
          <p:nvPr/>
        </p:nvSpPr>
        <p:spPr>
          <a:xfrm>
            <a:off x="3931920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step title 3"/>
          <p:cNvSpPr txBox="1"/>
          <p:nvPr/>
        </p:nvSpPr>
        <p:spPr>
          <a:xfrm>
            <a:off x="4315968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IT review</a:t>
            </a:r>
            <a:endParaRPr lang="en-US" sz="1400" dirty="0"/>
          </a:p>
        </p:txBody>
      </p:sp>
      <p:sp>
        <p:nvSpPr>
          <p:cNvPr id="22" name="step when 3"/>
          <p:cNvSpPr txBox="1"/>
          <p:nvPr/>
        </p:nvSpPr>
        <p:spPr>
          <a:xfrm>
            <a:off x="3931920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Day 4</a:t>
            </a:r>
            <a:endParaRPr lang="en-US" sz="1000" dirty="0"/>
          </a:p>
        </p:txBody>
      </p:sp>
      <p:sp>
        <p:nvSpPr>
          <p:cNvPr id="23" name="step text 3"/>
          <p:cNvSpPr txBox="1"/>
          <p:nvPr/>
        </p:nvSpPr>
        <p:spPr>
          <a:xfrm>
            <a:off x="3931920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Runs on firm hardware. Sign-on, roles and audit log shown in one sitting.</a:t>
            </a:r>
            <a:endParaRPr lang="en-US" sz="1050" dirty="0"/>
          </a:p>
        </p:txBody>
      </p:sp>
      <p:pic>
        <p:nvPicPr>
          <p:cNvPr id="24" name="step arrow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84" y="2148840"/>
            <a:ext cx="182880" cy="182880"/>
          </a:xfrm>
          <a:prstGeom prst="rect">
            <a:avLst/>
          </a:prstGeom>
        </p:spPr>
      </p:pic>
      <p:sp>
        <p:nvSpPr>
          <p:cNvPr id="25" name="step 4 card"/>
          <p:cNvSpPr/>
          <p:nvPr/>
        </p:nvSpPr>
        <p:spPr>
          <a:xfrm>
            <a:off x="5504688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26" name="step number 4"/>
          <p:cNvSpPr/>
          <p:nvPr/>
        </p:nvSpPr>
        <p:spPr>
          <a:xfrm>
            <a:off x="5614416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step number text 4"/>
          <p:cNvSpPr txBox="1"/>
          <p:nvPr/>
        </p:nvSpPr>
        <p:spPr>
          <a:xfrm>
            <a:off x="5614416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tep title 4"/>
          <p:cNvSpPr txBox="1"/>
          <p:nvPr/>
        </p:nvSpPr>
        <p:spPr>
          <a:xfrm>
            <a:off x="5998464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Pilot</a:t>
            </a:r>
            <a:endParaRPr lang="en-US" sz="1400" dirty="0"/>
          </a:p>
        </p:txBody>
      </p:sp>
      <p:sp>
        <p:nvSpPr>
          <p:cNvPr id="29" name="step when 4"/>
          <p:cNvSpPr txBox="1"/>
          <p:nvPr/>
        </p:nvSpPr>
        <p:spPr>
          <a:xfrm>
            <a:off x="5614416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Week 2</a:t>
            </a:r>
            <a:endParaRPr lang="en-US" sz="1000" dirty="0"/>
          </a:p>
        </p:txBody>
      </p:sp>
      <p:sp>
        <p:nvSpPr>
          <p:cNvPr id="30" name="step text 4"/>
          <p:cNvSpPr txBox="1"/>
          <p:nvPr/>
        </p:nvSpPr>
        <p:spPr>
          <a:xfrm>
            <a:off x="5614416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One billing partner, one client's prebills. A person decides every change.</a:t>
            </a:r>
            <a:endParaRPr lang="en-US" sz="1050" dirty="0"/>
          </a:p>
        </p:txBody>
      </p:sp>
      <p:pic>
        <p:nvPicPr>
          <p:cNvPr id="31" name="step arrow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148840"/>
            <a:ext cx="182880" cy="182880"/>
          </a:xfrm>
          <a:prstGeom prst="rect">
            <a:avLst/>
          </a:prstGeom>
        </p:spPr>
      </p:pic>
      <p:sp>
        <p:nvSpPr>
          <p:cNvPr id="32" name="step 5 card"/>
          <p:cNvSpPr/>
          <p:nvPr/>
        </p:nvSpPr>
        <p:spPr>
          <a:xfrm>
            <a:off x="7187184" y="1280160"/>
            <a:ext cx="1572768" cy="19202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7296912" y="138988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step number text 5"/>
          <p:cNvSpPr txBox="1"/>
          <p:nvPr/>
        </p:nvSpPr>
        <p:spPr>
          <a:xfrm>
            <a:off x="7296912" y="1389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itle 5"/>
          <p:cNvSpPr txBox="1"/>
          <p:nvPr/>
        </p:nvSpPr>
        <p:spPr>
          <a:xfrm>
            <a:off x="7680960" y="137160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 use</a:t>
            </a:r>
            <a:endParaRPr lang="en-US" sz="1400" dirty="0"/>
          </a:p>
        </p:txBody>
      </p:sp>
      <p:sp>
        <p:nvSpPr>
          <p:cNvPr id="36" name="step when 5"/>
          <p:cNvSpPr txBox="1"/>
          <p:nvPr/>
        </p:nvSpPr>
        <p:spPr>
          <a:xfrm>
            <a:off x="7296912" y="178308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Week 3 on</a:t>
            </a:r>
            <a:endParaRPr lang="en-US" sz="1000" dirty="0"/>
          </a:p>
        </p:txBody>
      </p:sp>
      <p:sp>
        <p:nvSpPr>
          <p:cNvPr id="37" name="step text 5"/>
          <p:cNvSpPr txBox="1"/>
          <p:nvPr/>
        </p:nvSpPr>
        <p:spPr>
          <a:xfrm>
            <a:off x="7296912" y="2011680"/>
            <a:ext cx="1353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Flags appear in the prebill review that already happens.</a:t>
            </a:r>
            <a:endParaRPr lang="en-US" sz="1050" dirty="0"/>
          </a:p>
        </p:txBody>
      </p:sp>
      <p:sp>
        <p:nvSpPr>
          <p:cNvPr id="38" name="why easy heading"/>
          <p:cNvSpPr txBox="1"/>
          <p:nvPr/>
        </p:nvSpPr>
        <p:spPr>
          <a:xfrm>
            <a:off x="457200" y="3310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Why I would pick it:</a:t>
            </a:r>
            <a:endParaRPr lang="en-US" sz="1100" dirty="0"/>
          </a:p>
        </p:txBody>
      </p:sp>
      <p:sp>
        <p:nvSpPr>
          <p:cNvPr id="39" name="icon square"/>
          <p:cNvSpPr/>
          <p:nvPr/>
        </p:nvSpPr>
        <p:spPr>
          <a:xfrm>
            <a:off x="201168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0" name="lis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007" y="3384743"/>
            <a:ext cx="143378" cy="143378"/>
          </a:xfrm>
          <a:prstGeom prst="rect">
            <a:avLst/>
          </a:prstGeom>
        </p:spPr>
      </p:pic>
      <p:sp>
        <p:nvSpPr>
          <p:cNvPr id="41" name="easy 1"/>
          <p:cNvSpPr txBox="1"/>
          <p:nvPr/>
        </p:nvSpPr>
        <p:spPr>
          <a:xfrm>
            <a:off x="232257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Inputs already exist</a:t>
            </a:r>
            <a:endParaRPr lang="en-US" sz="1050" dirty="0"/>
          </a:p>
        </p:txBody>
      </p:sp>
      <p:sp>
        <p:nvSpPr>
          <p:cNvPr id="42" name="icon square"/>
          <p:cNvSpPr/>
          <p:nvPr/>
        </p:nvSpPr>
        <p:spPr>
          <a:xfrm>
            <a:off x="370332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check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9647" y="3384743"/>
            <a:ext cx="143378" cy="143378"/>
          </a:xfrm>
          <a:prstGeom prst="rect">
            <a:avLst/>
          </a:prstGeom>
        </p:spPr>
      </p:pic>
      <p:sp>
        <p:nvSpPr>
          <p:cNvPr id="44" name="easy 2"/>
          <p:cNvSpPr txBox="1"/>
          <p:nvPr/>
        </p:nvSpPr>
        <p:spPr>
          <a:xfrm>
            <a:off x="401421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 person reviews it</a:t>
            </a:r>
            <a:endParaRPr lang="en-US" sz="1050" dirty="0"/>
          </a:p>
        </p:txBody>
      </p:sp>
      <p:sp>
        <p:nvSpPr>
          <p:cNvPr id="45" name="icon square"/>
          <p:cNvSpPr/>
          <p:nvPr/>
        </p:nvSpPr>
        <p:spPr>
          <a:xfrm>
            <a:off x="539496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setting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1287" y="3384743"/>
            <a:ext cx="143378" cy="143378"/>
          </a:xfrm>
          <a:prstGeom prst="rect">
            <a:avLst/>
          </a:prstGeom>
        </p:spPr>
      </p:pic>
      <p:sp>
        <p:nvSpPr>
          <p:cNvPr id="47" name="easy 3"/>
          <p:cNvSpPr txBox="1"/>
          <p:nvPr/>
        </p:nvSpPr>
        <p:spPr>
          <a:xfrm>
            <a:off x="570585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No new habits</a:t>
            </a:r>
            <a:endParaRPr lang="en-US" sz="1050" dirty="0"/>
          </a:p>
        </p:txBody>
      </p:sp>
      <p:sp>
        <p:nvSpPr>
          <p:cNvPr id="48" name="icon square"/>
          <p:cNvSpPr/>
          <p:nvPr/>
        </p:nvSpPr>
        <p:spPr>
          <a:xfrm>
            <a:off x="708660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shield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2927" y="3384743"/>
            <a:ext cx="143378" cy="143378"/>
          </a:xfrm>
          <a:prstGeom prst="rect">
            <a:avLst/>
          </a:prstGeom>
        </p:spPr>
      </p:pic>
      <p:sp>
        <p:nvSpPr>
          <p:cNvPr id="50" name="easy 4"/>
          <p:cNvSpPr txBox="1"/>
          <p:nvPr/>
        </p:nvSpPr>
        <p:spPr>
          <a:xfrm>
            <a:off x="739749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Easy to stop</a:t>
            </a:r>
            <a:endParaRPr lang="en-US" sz="1050" dirty="0"/>
          </a:p>
        </p:txBody>
      </p:sp>
      <p:sp>
        <p:nvSpPr>
          <p:cNvPr id="51" name="long-term goal card"/>
          <p:cNvSpPr/>
          <p:nvPr/>
        </p:nvSpPr>
        <p:spPr>
          <a:xfrm>
            <a:off x="457200" y="3749040"/>
            <a:ext cx="8229600" cy="10515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2" name="long-term goal heading"/>
          <p:cNvSpPr txBox="1"/>
          <p:nvPr/>
        </p:nvSpPr>
        <p:spPr>
          <a:xfrm>
            <a:off x="640080" y="38130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longer view, for discussion: one firm-owned platform that touches everything</a:t>
            </a:r>
            <a:endParaRPr lang="en-US" sz="1400" dirty="0"/>
          </a:p>
        </p:txBody>
      </p:sp>
      <p:sp>
        <p:nvSpPr>
          <p:cNvPr id="53" name="long-term goal text"/>
          <p:cNvSpPr txBox="1"/>
          <p:nvPr/>
        </p:nvSpPr>
        <p:spPr>
          <a:xfrm>
            <a:off x="640080" y="411480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Over time, one in-house system could touch every file, matter and system the firm runs, with each tool as a module, one set of permissions, one audit trail, and the firm owning the code and the data. That is leadership's call and a long way off. I raise it so the quick wins can be built to add up to 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for the firm">
  <a:themeElements>
    <a:clrScheme name="AI for the firm">
      <a:dk1>
        <a:srgbClr val="211E1F"/>
      </a:dk1>
      <a:lt1>
        <a:srgbClr val="FFFFFF"/>
      </a:lt1>
      <a:dk2>
        <a:srgbClr val="5E5E5E"/>
      </a:dk2>
      <a:lt2>
        <a:srgbClr val="F2F2F2"/>
      </a:lt2>
      <a:accent1>
        <a:srgbClr val="436C6D"/>
      </a:accent1>
      <a:accent2>
        <a:srgbClr val="E16E39"/>
      </a:accent2>
      <a:accent3>
        <a:srgbClr val="BFE0D5"/>
      </a:accent3>
      <a:accent4>
        <a:srgbClr val="66938F"/>
      </a:accent4>
      <a:accent5>
        <a:srgbClr val="436C6D"/>
      </a:accent5>
      <a:accent6>
        <a:srgbClr val="BDD7DE"/>
      </a:accent6>
      <a:hlink>
        <a:srgbClr val="436C6D"/>
      </a:hlink>
      <a:folHlink>
        <a:srgbClr val="5E5E5E"/>
      </a:folHlink>
    </a:clrScheme>
    <a:fontScheme name="AI for the fir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 have built and can build with AI</dc:title>
  <dc:subject>PptxGenJS Presentation</dc:subject>
  <dc:creator>Myles Parslow</dc:creator>
  <cp:lastModifiedBy>Myles Parslow</cp:lastModifiedBy>
  <cp:revision>1</cp:revision>
  <dcterms:created xsi:type="dcterms:W3CDTF">2026-10-29T00:04:59Z</dcterms:created>
  <dcterms:modified xsi:type="dcterms:W3CDTF">2026-10-29T00:04:59Z</dcterms:modified>
</cp:coreProperties>
</file>